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notesMasterIdLst>
    <p:notesMasterId r:id="rId22"/>
  </p:notesMasterIdLst>
  <p:sldIdLst>
    <p:sldId id="271" r:id="rId2"/>
    <p:sldId id="272" r:id="rId3"/>
    <p:sldId id="289" r:id="rId4"/>
    <p:sldId id="290" r:id="rId5"/>
    <p:sldId id="286" r:id="rId6"/>
    <p:sldId id="273" r:id="rId7"/>
    <p:sldId id="282" r:id="rId8"/>
    <p:sldId id="283" r:id="rId9"/>
    <p:sldId id="274" r:id="rId10"/>
    <p:sldId id="275" r:id="rId11"/>
    <p:sldId id="285" r:id="rId12"/>
    <p:sldId id="276" r:id="rId13"/>
    <p:sldId id="284" r:id="rId14"/>
    <p:sldId id="277" r:id="rId15"/>
    <p:sldId id="288" r:id="rId16"/>
    <p:sldId id="278" r:id="rId17"/>
    <p:sldId id="287" r:id="rId18"/>
    <p:sldId id="279" r:id="rId19"/>
    <p:sldId id="280" r:id="rId20"/>
    <p:sldId id="281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1528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774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C8B5-E90F-157F-E0C9-BE3329961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E23FF-94D6-B471-57F2-8A1D7F0EF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A5565C-F44A-36FC-0D73-8F91B2050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7C0D4-9046-900C-F5CC-CB04D03EA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16377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7B7E-994A-5F8F-F083-8279FD138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7CEA7D-6F94-47A4-4C39-35E083BDB6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A9A46-A084-E83B-0571-C9E944621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6E85-F7D8-433C-CB94-0B197C3E9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7021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294E9-FE19-E781-CC9A-79E6CA8C9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DF8C13-410B-631C-5780-7D01A7F58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BDE0B-EC25-4F70-660D-8696DBF4D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A07338-584D-3F07-5A77-1D82169A8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6106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FC1C9-D1D6-EC12-DB72-9255B394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61896B-5F33-2874-F49E-5ECBF7F17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F2C3C-3ECD-B1C9-A148-A824017525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27917-1569-E672-D342-7AEB33EE2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71601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1995A-5FB7-92E4-3B82-7F6AB3CB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0AF11-FBDE-4049-1A75-02B7353117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6E2F0-1A42-E270-BD08-A6BA82AB9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55F24-FAC3-DF0E-4147-E98DDA1624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10791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19F40-DD03-B390-036E-CD219479A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DD60D1-381D-F8B9-6FFA-7FC3A97521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F85C73-40B1-8BA1-1424-47EE6F244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B3CCA-07C5-AFC7-2710-8986420F6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180652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32E55-FE90-2401-6A76-325DA9E96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CAC4D-63E7-0827-13BF-B4A50297DD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4A14A-53D2-6CBF-672E-E38319F3F3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1B05E-0204-66A8-8E2D-2D7B1A53A9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35339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E1B82-C811-F9D7-7D2A-C898B48A0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C12B38-48A6-1262-8687-03A2B32F74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157358-4DAB-001F-6D24-0663364C1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78E3A6-17DB-BB10-C1C5-6FE80BB5E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62504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EEF1B-9D8A-A1B5-3419-7DC54089B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EC2476-D744-E9D7-7E86-E2A5493D24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46EFA-948C-D654-92EA-BD2FBBA2B0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dataset, objective, and the challenge of predicting a rare event.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543C7-D5C1-0671-EA11-12CDC06B4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35071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3B98D-6582-52CE-D0A1-AF5EAC7E1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8BE577-F512-9FA4-95BD-E380935092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DC3C9-502D-57F4-D2DB-14819BD369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dataset, objective, and the challenge of predicting a rare event.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650BA1-C114-10DC-99A2-96319CC16A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67343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31669-FC06-E49D-214F-651E93CE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F804F-F00E-C179-0AAE-72B4543DE9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65D18A-0721-A858-858D-57BE8BF515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D48B8-6118-E56E-C07B-3E42E03039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793490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CF2AB-A402-5541-4399-ED1CA84F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48E54-BF88-832E-5A87-E35451DA69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DB62FA-2984-DE2D-754F-63C9B0611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dataset, objective, and the challenge of predicting a rare event.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AE934-CAF0-ADB3-AD68-D9CFB9320D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752398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E6BEE-ADFA-3FC5-11C5-CAD9D3ED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27958-9A67-C254-C775-A49235F01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444A7-30D3-949F-9266-E81511F38A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C777D-876D-020B-9155-DFD3DE106F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76421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C4C04-A50C-08E0-24EB-24850519B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7DE6E7-8969-D6F5-E17D-F6B0534F00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38F41C-81B8-44B8-59EC-446479CBB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perception/trust drives vaccination more than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11DE1B-8672-6FE0-00C3-C3562D0D8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5912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700E4-2D64-E336-B1F1-B8F53707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FD31C-77C9-911D-7EE0-2BD8323B4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9D85C3-926D-F2C9-D85B-6731117B7F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6A120-AE5B-314A-19DB-CD8DCE65B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66998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925A1-4563-32E0-B05B-B81B073C2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2230E1-404A-95EA-5FB6-1581F78057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7065A-77E6-52E8-7610-2ACF7EAAE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perception/trust drives vaccination more than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29728-DF8A-4ABF-954D-88B6E70BC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33168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8717B-ED91-08E4-0372-62E95C688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99123-7161-4667-B3AE-F4DF97D6A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8A53C-C587-AE8F-025C-4F13B19CD7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the strategic question. Highlight the mission of moving public health to a proactive strategy.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6328F-F3F3-B351-7A4E-6F350CBE9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29686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06CE3-1C71-F84C-50D2-6F60EFE30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AE306-B8A7-9D87-9C4C-4234D3CFF9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AEFED-2DC5-FDBA-E671-F75FD5E8E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perception/trust drives vaccination more than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3B363D-F233-CEA8-EB5E-A70A4DB494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84777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A3AC-8403-7E67-8890-88D948EC9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6D2C45-84F9-35A4-8B30-139439F7CC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50B8F-9FC2-6EF8-F447-FAAF684981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education and income influence uptake and the importance of simplifying messages.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9388A3-6A8E-636E-A307-BA28AB7EA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583259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531AD-786E-8BF6-4A8B-AF260E5F4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039A0-50EC-5E35-D1B0-C5AF47EFFB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7C799-AAE4-B0A9-5AC3-4CF69B0CA9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how education and income influence uptake and the importance of simplifying messages.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28965-01D4-60DE-D086-A227AA6987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63038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69EC92B0-FB3B-40B4-B980-899D5E21B355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1940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F2D4-0812-4E03-9778-26487000FEC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1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F0687-B05E-4779-91F3-092FDA79BC5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85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D0034-2A6F-4524-94A4-4874A388E7F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583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B4F09-86B1-4AE5-89B1-060AB39DA8E6}" type="datetime1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21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2FAEC-92DF-4E1A-AF68-2AC683E77051}" type="datetime1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156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8620F-038D-424F-AAFD-F7A045D26CD1}" type="datetime1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78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8EC6-BD7D-41FA-A6DD-BD2780A44016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5601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44F87-3E04-452A-B935-454ED8C5EFF2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925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C3291-7D9D-47A5-A1CC-10C242414BCD}" type="datetime1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5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3CA80-FF36-4377-8F66-75B4E3AC5E4A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4296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315B-A2CE-463D-A809-4CB896EF01C2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8503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F76B-22A8-4485-8429-0FDF238A501E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119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71C4A-5653-48FA-A851-D7965F5FD519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203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EADAB-38BB-4BB3-AEEB-A4DF27324D1F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130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0105F-F95F-4FD2-B6EA-B368A21B7D96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40026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8CBDC-097D-4868-89EA-7E0FE15D2111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353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37B8072-8B9E-4CE8-92B3-71DA27D879F7}" type="datetime1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77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mailto:garangabel262@gmail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DCFC8-6544-CDBD-7075-81743CF30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17E0-EFE1-EDA0-DAE5-1831A9913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24" y="682906"/>
            <a:ext cx="8160152" cy="1747776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The $20 Million Question</a:t>
            </a:r>
            <a:br>
              <a:rPr lang="en-US" sz="3600" b="1" dirty="0">
                <a:latin typeface="Garamond" panose="02020404030301010803" pitchFamily="18" charset="0"/>
              </a:rPr>
            </a:br>
            <a:br>
              <a:rPr lang="en-US" sz="2400" dirty="0">
                <a:latin typeface="Garamond" panose="02020404030301010803" pitchFamily="18" charset="0"/>
              </a:rPr>
            </a:br>
            <a:r>
              <a:rPr lang="en-US" sz="1800" b="1" dirty="0">
                <a:latin typeface="Garamond" panose="02020404030301010803" pitchFamily="18" charset="0"/>
              </a:rPr>
              <a:t>“In a public health crisis, every dollar spent on the wrong outreach can cost lives.”</a:t>
            </a:r>
            <a:br>
              <a:rPr lang="en-US" sz="2400" b="1" dirty="0">
                <a:latin typeface="Garamond" panose="02020404030301010803" pitchFamily="18" charset="0"/>
              </a:rPr>
            </a:br>
            <a:endParaRPr lang="en-US" sz="2400" dirty="0">
              <a:latin typeface="Garamond" panose="020204040303010108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98F7-2218-F597-D1FC-D87B2F966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179" y="2233914"/>
            <a:ext cx="6227179" cy="4294208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endParaRPr lang="en-US" b="1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sz="3600" b="1" dirty="0">
                <a:latin typeface="Garamond" panose="02020404030301010803" pitchFamily="18" charset="0"/>
              </a:rPr>
              <a:t>How do we predict who will say ‘Yes’ in advance?</a:t>
            </a:r>
            <a:endParaRPr lang="en-US" dirty="0">
              <a:latin typeface="Garamond" panose="02020404030301010803" pitchFamily="18" charset="0"/>
            </a:endParaRPr>
          </a:p>
          <a:p>
            <a:pPr marL="0" indent="0" algn="ctr">
              <a:buNone/>
            </a:pPr>
            <a:r>
              <a:rPr lang="en-US" sz="2900" b="1" dirty="0">
                <a:latin typeface="Garamond" panose="02020404030301010803" pitchFamily="18" charset="0"/>
              </a:rPr>
              <a:t>The Mission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Transform health 2009 H1N1 data from </a:t>
            </a:r>
            <a:r>
              <a:rPr lang="en-US" b="1" dirty="0">
                <a:latin typeface="Garamond" panose="02020404030301010803" pitchFamily="18" charset="0"/>
              </a:rPr>
              <a:t>reactive guesswork → predictive precision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Identify key drivers of vaccine uptake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Target the right communities at the right time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Measure the population’s </a:t>
            </a:r>
            <a:r>
              <a:rPr lang="en-US" b="1" dirty="0">
                <a:latin typeface="Garamond" panose="02020404030301010803" pitchFamily="18" charset="0"/>
              </a:rPr>
              <a:t>Trust Threshold</a:t>
            </a:r>
          </a:p>
          <a:p>
            <a:pPr marL="0" indent="0">
              <a:buNone/>
            </a:pPr>
            <a:endParaRPr lang="en-US" b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This is not just a model — it’s a strategic decision-making tool</a:t>
            </a:r>
            <a:br>
              <a:rPr lang="en-US" dirty="0">
                <a:latin typeface="Garamond" panose="02020404030301010803" pitchFamily="18" charset="0"/>
              </a:rPr>
            </a:br>
            <a:endParaRPr sz="2800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Garamond" panose="02020404030301010803" pitchFamily="18" charset="0"/>
              </a:rPr>
              <a:t>Prepared and </a:t>
            </a:r>
            <a:r>
              <a:rPr sz="2800" b="1" dirty="0">
                <a:latin typeface="Garamond" panose="02020404030301010803" pitchFamily="18" charset="0"/>
              </a:rPr>
              <a:t>Presented By: </a:t>
            </a:r>
            <a:r>
              <a:rPr sz="2800" dirty="0">
                <a:latin typeface="Garamond" panose="02020404030301010803" pitchFamily="18" charset="0"/>
              </a:rPr>
              <a:t>Abel Aleu Chol Garang</a:t>
            </a:r>
            <a:r>
              <a:rPr lang="en-US" sz="2800" dirty="0">
                <a:latin typeface="Garamond" panose="02020404030301010803" pitchFamily="18" charset="0"/>
              </a:rPr>
              <a:t> | Data Scientist</a:t>
            </a:r>
          </a:p>
        </p:txBody>
      </p:sp>
    </p:spTree>
    <p:extLst>
      <p:ext uri="{BB962C8B-B14F-4D97-AF65-F5344CB8AC3E}">
        <p14:creationId xmlns:p14="http://schemas.microsoft.com/office/powerpoint/2010/main" val="2634372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E4836-01DA-D19A-9D93-1AD286D88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75725-2D38-DDC3-B450-9C21271AA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28" y="830221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Garamond" panose="02020404030301010803" pitchFamily="18" charset="0"/>
              </a:rPr>
              <a:t>The Data Blueprint &amp; Strategic Gap</a:t>
            </a:r>
            <a:br>
              <a:rPr lang="en-US" sz="3600" b="1" dirty="0">
                <a:latin typeface="Garamond" panose="02020404030301010803" pitchFamily="18" charset="0"/>
              </a:rPr>
            </a:br>
            <a:r>
              <a:rPr lang="en-US" sz="2400" dirty="0">
                <a:latin typeface="Garamond" panose="02020404030301010803" pitchFamily="18" charset="0"/>
              </a:rPr>
              <a:t>Decoding Hidden Behavioral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D9FC4-D263-D31F-A7B5-87B3DC777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365" y="2453833"/>
            <a:ext cx="6724892" cy="4016415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700" b="1" dirty="0">
                <a:latin typeface="Garamond" panose="02020404030301010803" pitchFamily="18" charset="0"/>
              </a:rPr>
              <a:t>The Core Conflict</a:t>
            </a:r>
          </a:p>
          <a:p>
            <a:pPr marL="0" indent="0">
              <a:buNone/>
            </a:pPr>
            <a:r>
              <a:rPr lang="en-US" dirty="0">
                <a:latin typeface="Garamond" panose="02020404030301010803" pitchFamily="18" charset="0"/>
              </a:rPr>
              <a:t>“Vaccine hesitancy is not just personal — it is a barrier to herd immunity.”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When public health relies on guesswork: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Resources are wasted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Outreach becomes ineffective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3700" b="1" dirty="0">
                <a:latin typeface="Garamond" panose="02020404030301010803" pitchFamily="18" charset="0"/>
              </a:rPr>
              <a:t>The Dataset: 26,707 individuals | 35 variables</a:t>
            </a:r>
            <a:endParaRPr lang="en-US" sz="3700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Garamond" panose="02020404030301010803" pitchFamily="18" charset="0"/>
              </a:rPr>
              <a:t>Psychological: </a:t>
            </a:r>
            <a:r>
              <a:rPr lang="en-US" sz="2800" dirty="0">
                <a:latin typeface="Garamond" panose="02020404030301010803" pitchFamily="18" charset="0"/>
              </a:rPr>
              <a:t>Risk perception, trust, opinions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Garamond" panose="02020404030301010803" pitchFamily="18" charset="0"/>
              </a:rPr>
              <a:t>Behavioral: </a:t>
            </a:r>
            <a:r>
              <a:rPr lang="en-US" sz="2800" dirty="0">
                <a:latin typeface="Garamond" panose="02020404030301010803" pitchFamily="18" charset="0"/>
              </a:rPr>
              <a:t>Hygiene habits, preventive actions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Garamond" panose="02020404030301010803" pitchFamily="18" charset="0"/>
              </a:rPr>
              <a:t>Demographic: </a:t>
            </a:r>
            <a:r>
              <a:rPr lang="en-US" sz="2800" dirty="0">
                <a:latin typeface="Garamond" panose="02020404030301010803" pitchFamily="18" charset="0"/>
              </a:rPr>
              <a:t>Income, education, access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3700" b="1" dirty="0">
                <a:latin typeface="Garamond" panose="02020404030301010803" pitchFamily="18" charset="0"/>
              </a:rPr>
              <a:t>The Challenge: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Only 21% vaccinated → a hidden minority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Difficult to identify (“needle-in-a-haystack”)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Traditional approaches miss them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Requires a high-recall model </a:t>
            </a:r>
          </a:p>
          <a:p>
            <a:pPr mar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From mass marketing → precision outreach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428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5384B-C2A1-7CB1-A433-67992DCB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0270F-2E88-9591-D82F-B55084D944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28" y="830221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Decision tree Model</a:t>
            </a:r>
            <a:endParaRPr lang="en-US" sz="2400" dirty="0">
              <a:latin typeface="Garamond" panose="020204040303010108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52BAB4-3E52-D710-F6D6-9BC3A5DE7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6988" y="2395959"/>
            <a:ext cx="6724650" cy="3630911"/>
          </a:xfrm>
        </p:spPr>
      </p:pic>
    </p:spTree>
    <p:extLst>
      <p:ext uri="{BB962C8B-B14F-4D97-AF65-F5344CB8AC3E}">
        <p14:creationId xmlns:p14="http://schemas.microsoft.com/office/powerpoint/2010/main" val="1638637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DDAD-C9AE-1ACA-3C2C-9BB8580A2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876E-17A1-08CE-F2C1-758B84C9B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28" y="830221"/>
            <a:ext cx="8229600" cy="1357394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Random Forest Model </a:t>
            </a:r>
            <a:br>
              <a:rPr lang="en-US" sz="3600" b="1" dirty="0">
                <a:latin typeface="Garamond" panose="02020404030301010803" pitchFamily="18" charset="0"/>
              </a:rPr>
            </a:br>
            <a:r>
              <a:rPr lang="en-US" sz="2400" dirty="0"/>
              <a:t> </a:t>
            </a:r>
            <a:r>
              <a:rPr lang="en-US" sz="2400" dirty="0">
                <a:latin typeface="Garamond" panose="02020404030301010803" pitchFamily="18" charset="0"/>
              </a:rPr>
              <a:t>Perception vs. Reality</a:t>
            </a:r>
            <a:br>
              <a:rPr lang="en-US" sz="2400" dirty="0">
                <a:latin typeface="Garamond" panose="02020404030301010803" pitchFamily="18" charset="0"/>
              </a:rPr>
            </a:br>
            <a:endParaRPr lang="en-US" sz="2400" dirty="0">
              <a:latin typeface="Garamond" panose="02020404030301010803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94384F-AC7A-4489-EB38-1CBBE7B51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96988" y="2407535"/>
            <a:ext cx="6724650" cy="3645178"/>
          </a:xfrm>
        </p:spPr>
      </p:pic>
    </p:spTree>
    <p:extLst>
      <p:ext uri="{BB962C8B-B14F-4D97-AF65-F5344CB8AC3E}">
        <p14:creationId xmlns:p14="http://schemas.microsoft.com/office/powerpoint/2010/main" val="41782193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C7FC-80D4-3195-5018-4C4D56FB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0E4E-0D08-7653-D1CD-A678BCCD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078" y="722240"/>
            <a:ext cx="7569843" cy="1997811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The Hierarchy of Influence</a:t>
            </a:r>
            <a:br>
              <a:rPr lang="en-US" sz="3600" b="1" dirty="0">
                <a:latin typeface="Garamond" panose="02020404030301010803" pitchFamily="18" charset="0"/>
              </a:rPr>
            </a:br>
            <a:r>
              <a:rPr lang="en-US" sz="1600" dirty="0">
                <a:latin typeface="Garamond" panose="02020404030301010803" pitchFamily="18" charset="0"/>
              </a:rPr>
              <a:t>T</a:t>
            </a:r>
            <a:r>
              <a:rPr lang="en-US" sz="1600" dirty="0"/>
              <a:t>he most influential factors driving an individual’s decision to get vaccinated.</a:t>
            </a:r>
            <a:br>
              <a:rPr lang="en-US" sz="1600" dirty="0"/>
            </a:br>
            <a:br>
              <a:rPr lang="en-US" sz="1600" b="1" dirty="0">
                <a:latin typeface="Garamond" panose="02020404030301010803" pitchFamily="18" charset="0"/>
                <a:cs typeface="Archivo" pitchFamily="2" charset="0"/>
              </a:rPr>
            </a:br>
            <a:endParaRPr lang="en-US" sz="1600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0BE141C-1B16-F3E5-2828-2D5158E0E4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3033" y="2511706"/>
            <a:ext cx="6628219" cy="3541853"/>
          </a:xfrm>
        </p:spPr>
      </p:pic>
    </p:spTree>
    <p:extLst>
      <p:ext uri="{BB962C8B-B14F-4D97-AF65-F5344CB8AC3E}">
        <p14:creationId xmlns:p14="http://schemas.microsoft.com/office/powerpoint/2010/main" val="599051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9E41F-7831-975B-1295-945297BF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64C76-71B1-F9D9-97B6-57BA9DEA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28" y="830221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  <a:cs typeface="Archivo" pitchFamily="2" charset="0"/>
              </a:rPr>
              <a:t>The Anatomy of Decision-Making</a:t>
            </a:r>
            <a:br>
              <a:rPr lang="en-US" sz="3600" b="1" dirty="0">
                <a:latin typeface="Garamond" panose="02020404030301010803" pitchFamily="18" charset="0"/>
                <a:cs typeface="Archivo" pitchFamily="2" charset="0"/>
              </a:rPr>
            </a:br>
            <a:r>
              <a:rPr lang="en-US" sz="2400" dirty="0">
                <a:latin typeface="Garamond" panose="02020404030301010803" pitchFamily="18" charset="0"/>
                <a:cs typeface="Archivo" pitchFamily="2" charset="0"/>
              </a:rPr>
              <a:t>Trust vs. Habit: What Really Drives Vaccination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36ED2-14EF-1E35-F6D1-E3ECF0415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997" y="2453833"/>
            <a:ext cx="7575631" cy="370389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400" b="1" dirty="0">
                <a:latin typeface="Garamond" panose="02020404030301010803" pitchFamily="18" charset="0"/>
                <a:cs typeface="Archivo" pitchFamily="2" charset="0"/>
              </a:rPr>
              <a:t>The Data Landscape 26,707 individuals | 35 variables</a:t>
            </a:r>
            <a:endParaRPr lang="en-US" sz="3400" dirty="0">
              <a:latin typeface="Garamond" panose="02020404030301010803" pitchFamily="18" charset="0"/>
              <a:cs typeface="Archivo" pitchFamily="2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Who:</a:t>
            </a: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 Age, race, income, education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Actions:</a:t>
            </a: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 Hygiene habits, preventive behavior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Beliefs:</a:t>
            </a: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 Risk perception, vaccine confidence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Challenge:</a:t>
            </a: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 21% vaccinated → class imbalance </a:t>
            </a:r>
            <a:br>
              <a:rPr lang="en-US" dirty="0">
                <a:latin typeface="Garamond" panose="02020404030301010803" pitchFamily="18" charset="0"/>
                <a:cs typeface="Archivo" pitchFamily="2" charset="0"/>
              </a:rPr>
            </a:br>
            <a:endParaRPr lang="en-US" dirty="0">
              <a:latin typeface="Garamond" panose="02020404030301010803" pitchFamily="18" charset="0"/>
              <a:cs typeface="Archivo" pitchFamily="2" charset="0"/>
            </a:endParaRPr>
          </a:p>
          <a:p>
            <a:pPr marL="0" indent="0">
              <a:buNone/>
            </a:pPr>
            <a:r>
              <a:rPr lang="en-US" sz="3100" b="1" dirty="0">
                <a:latin typeface="Garamond" panose="02020404030301010803" pitchFamily="18" charset="0"/>
                <a:cs typeface="Archivo" pitchFamily="2" charset="0"/>
              </a:rPr>
              <a:t>The Strategic Discovery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“Vaccination is not a habit — it is an act of trust.”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Hygiene behaviors → weak predictors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Trust in vaccine effectiveness → strongest driver</a:t>
            </a: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Concern alone does not translate into action </a:t>
            </a:r>
            <a:br>
              <a:rPr lang="en-US" dirty="0">
                <a:latin typeface="Garamond" panose="02020404030301010803" pitchFamily="18" charset="0"/>
                <a:cs typeface="Archivo" pitchFamily="2" charset="0"/>
              </a:rPr>
            </a:br>
            <a:endParaRPr lang="en-US" dirty="0">
              <a:latin typeface="Garamond" panose="02020404030301010803" pitchFamily="18" charset="0"/>
              <a:cs typeface="Archivo" pitchFamily="2" charset="0"/>
            </a:endParaRPr>
          </a:p>
          <a:p>
            <a:pPr marL="0" indent="0">
              <a:buNone/>
            </a:pPr>
            <a:r>
              <a:rPr lang="en-US" sz="3200" b="1" dirty="0">
                <a:latin typeface="Garamond" panose="02020404030301010803" pitchFamily="18" charset="0"/>
                <a:cs typeface="Archivo" pitchFamily="2" charset="0"/>
              </a:rPr>
              <a:t>Strategic Shift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Move from </a:t>
            </a: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general awareness → trust-building communication</a:t>
            </a:r>
            <a:endParaRPr lang="en-US" dirty="0">
              <a:latin typeface="Garamond" panose="02020404030301010803" pitchFamily="18" charset="0"/>
              <a:cs typeface="Archivo" pitchFamily="2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From: “Wash your hands”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To: </a:t>
            </a: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“Why the vaccine works”</a:t>
            </a:r>
            <a:r>
              <a:rPr lang="en-US" dirty="0">
                <a:latin typeface="Garamond" panose="02020404030301010803" pitchFamily="18" charset="0"/>
                <a:cs typeface="Archivo" pitchFamily="2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  <a:cs typeface="Archivo" pitchFamily="2" charset="0"/>
              </a:rPr>
              <a:t>Trust, not habit, determines vaccine uptake</a:t>
            </a:r>
            <a:endParaRPr lang="en-US" dirty="0">
              <a:latin typeface="Garamond" panose="02020404030301010803" pitchFamily="18" charset="0"/>
              <a:cs typeface="Archivo" pitchFamily="2" charset="0"/>
            </a:endParaRPr>
          </a:p>
          <a:p>
            <a:endParaRPr lang="en-US" dirty="0">
              <a:latin typeface="Garamond" panose="02020404030301010803" pitchFamily="18" charset="0"/>
              <a:cs typeface="Archiv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617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EDA10-F04E-800C-E761-4BBCD692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211A5-828C-3141-37C9-E46F2B549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028" y="830221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  <a:cs typeface="Archivo" pitchFamily="2" charset="0"/>
              </a:rPr>
              <a:t>Tableau Representation of the analysis</a:t>
            </a:r>
            <a:endParaRPr lang="en-US" sz="2400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A077AD0-01B4-ACF7-6130-53FAD15255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8182" y="1782502"/>
            <a:ext cx="7934446" cy="4178032"/>
          </a:xfrm>
        </p:spPr>
      </p:pic>
    </p:spTree>
    <p:extLst>
      <p:ext uri="{BB962C8B-B14F-4D97-AF65-F5344CB8AC3E}">
        <p14:creationId xmlns:p14="http://schemas.microsoft.com/office/powerpoint/2010/main" val="361010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80747-A304-DCF0-8BC9-2EEF97BF7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C496-B08F-E097-6674-2B04F03F4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803" y="949124"/>
            <a:ext cx="7639292" cy="1527858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Garamond" panose="02020404030301010803" pitchFamily="18" charset="0"/>
              </a:rPr>
              <a:t>Vaccinated vs. Unvaccinated</a:t>
            </a:r>
            <a:br>
              <a:rPr lang="en-US" sz="1600" dirty="0">
                <a:latin typeface="Garamond" panose="02020404030301010803" pitchFamily="18" charset="0"/>
              </a:rPr>
            </a:br>
            <a:r>
              <a:rPr lang="en-US" sz="1600" dirty="0">
                <a:latin typeface="Garamond" panose="02020404030301010803" pitchFamily="18" charset="0"/>
              </a:rPr>
              <a:t>T</a:t>
            </a:r>
            <a:r>
              <a:rPr lang="en-US" sz="1600" dirty="0"/>
              <a:t>he slices are nearly identical, indicating that </a:t>
            </a:r>
            <a:r>
              <a:rPr lang="en-US" sz="1600" b="1" dirty="0"/>
              <a:t>gender was not a primary driver</a:t>
            </a:r>
            <a:r>
              <a:rPr lang="en-US" sz="1600" dirty="0"/>
              <a:t> for H1N1 vaccination allowing us to focus on </a:t>
            </a:r>
            <a:r>
              <a:rPr lang="en-US" sz="1600" b="1" dirty="0"/>
              <a:t>behavioral drivers</a:t>
            </a:r>
            <a:br>
              <a:rPr lang="en-US" sz="1600" b="1" dirty="0">
                <a:latin typeface="Garamond" panose="02020404030301010803" pitchFamily="18" charset="0"/>
                <a:cs typeface="Archivo" pitchFamily="2" charset="0"/>
              </a:rPr>
            </a:br>
            <a:endParaRPr lang="en-US" sz="1600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45D400C-A2CA-5CBF-0150-C7483A90B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1803" y="2476982"/>
            <a:ext cx="7639292" cy="3337333"/>
          </a:xfrm>
        </p:spPr>
      </p:pic>
    </p:spTree>
    <p:extLst>
      <p:ext uri="{BB962C8B-B14F-4D97-AF65-F5344CB8AC3E}">
        <p14:creationId xmlns:p14="http://schemas.microsoft.com/office/powerpoint/2010/main" val="907990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80A81-9B01-AB7B-05A9-D015F209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5F1F-5FAA-7CCC-3500-E1FBCDDE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>
                <a:latin typeface="Garamond" panose="02020404030301010803" pitchFamily="18" charset="0"/>
              </a:rPr>
              <a:t>Engineering Equity &amp; The Information Gap</a:t>
            </a:r>
            <a:br>
              <a:rPr lang="en-US" sz="3600" b="1" dirty="0">
                <a:latin typeface="Garamond" panose="02020404030301010803" pitchFamily="18" charset="0"/>
              </a:rPr>
            </a:br>
            <a:r>
              <a:rPr lang="en-US" sz="2400" dirty="0">
                <a:latin typeface="Garamond" panose="02020404030301010803" pitchFamily="18" charset="0"/>
              </a:rPr>
              <a:t>From Data Processing to Socioeconomic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A8B9E-E18E-786C-C2AC-F594F1B24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490135"/>
            <a:ext cx="6798735" cy="344499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Garamond" panose="02020404030301010803" pitchFamily="18" charset="0"/>
              </a:rPr>
              <a:t>Data Preparation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Imputation: handled missing values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Encoding: converted categorical variables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Scaling: normalized numerical features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3000" b="1" dirty="0">
                <a:latin typeface="Garamond" panose="02020404030301010803" pitchFamily="18" charset="0"/>
              </a:rPr>
              <a:t>The Discovery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Vaccination gap = Information gap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Lower income &amp; education → lower uptake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Complex messaging limits understanding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Trust breaks where clarity is missing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600" b="1" dirty="0">
                <a:latin typeface="Garamond" panose="02020404030301010803" pitchFamily="18" charset="0"/>
              </a:rPr>
              <a:t>Strategic Shift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From academic jargon → community-first communication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Access to clear information drives equity</a:t>
            </a:r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808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87181-9552-270E-C500-0B6E4EED9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F6588-C9F8-B5D3-086F-6EA1ADC33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Escaping the Accuracy Trap</a:t>
            </a:r>
            <a:br>
              <a:rPr lang="en-US" sz="3600" b="1" dirty="0">
                <a:latin typeface="Garamond" panose="02020404030301010803" pitchFamily="18" charset="0"/>
              </a:rPr>
            </a:br>
            <a:r>
              <a:rPr lang="en-US" sz="2700" dirty="0">
                <a:latin typeface="Garamond" panose="02020404030301010803" pitchFamily="18" charset="0"/>
              </a:rPr>
              <a:t>Prioritizing Recall Over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71823-E482-82DF-AD19-6AFE5CB1B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500" b="1" dirty="0">
                <a:latin typeface="Garamond" panose="02020404030301010803" pitchFamily="18" charset="0"/>
              </a:rPr>
              <a:t>The Core Discovery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Hygiene ≠ vaccination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Trust in effectiveness = key driver</a:t>
            </a:r>
            <a:r>
              <a:rPr lang="en-US" dirty="0">
                <a:latin typeface="Garamond" panose="02020404030301010803" pitchFamily="18" charset="0"/>
              </a:rPr>
              <a:t>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500" b="1" dirty="0">
                <a:latin typeface="Garamond" panose="02020404030301010803" pitchFamily="18" charset="0"/>
              </a:rPr>
              <a:t>The Problem with Accuracy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79% accuracy possible by predicting “No”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High accuracy can still fail in practice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Garamond" panose="02020404030301010803" pitchFamily="18" charset="0"/>
              </a:rPr>
              <a:t>The Strategic Pivot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Focus on </a:t>
            </a:r>
            <a:r>
              <a:rPr lang="en-US" b="1" dirty="0">
                <a:latin typeface="Garamond" panose="02020404030301010803" pitchFamily="18" charset="0"/>
              </a:rPr>
              <a:t>Recall (find potential vaccinees)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Minimize missed opportunities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Better to reach more than to miss the willing</a:t>
            </a:r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8391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9E7E5-F9F3-DC55-786F-24ED30F1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E2171-BC38-1EF7-567C-C7D282A7A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585" y="567159"/>
            <a:ext cx="8027043" cy="1928585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Garamond" panose="02020404030301010803" pitchFamily="18" charset="0"/>
              </a:rPr>
              <a:t>Perception of Risk as a Vaccination Drive</a:t>
            </a:r>
            <a:br>
              <a:rPr lang="en-US" sz="2800" b="1" dirty="0">
                <a:latin typeface="Garamond" panose="02020404030301010803" pitchFamily="18" charset="0"/>
              </a:rPr>
            </a:br>
            <a:r>
              <a:rPr lang="en-US" sz="1600" dirty="0"/>
              <a:t>The upward trend in the blue segments shows that while few who felt </a:t>
            </a:r>
            <a:r>
              <a:rPr lang="en-US" sz="1600" b="1" dirty="0"/>
              <a:t>Low Risk </a:t>
            </a:r>
            <a:r>
              <a:rPr lang="en-US" sz="1600" dirty="0"/>
              <a:t>got vaccinated, nearly half of those perceiving </a:t>
            </a:r>
            <a:r>
              <a:rPr lang="en-US" sz="1600" b="1" dirty="0"/>
              <a:t>Highest Risk </a:t>
            </a:r>
            <a:r>
              <a:rPr lang="en-US" sz="1600" dirty="0"/>
              <a:t>took action. </a:t>
            </a:r>
            <a:br>
              <a:rPr lang="en-US" sz="3600" b="1" dirty="0">
                <a:latin typeface="Garamond" panose="02020404030301010803" pitchFamily="18" charset="0"/>
                <a:cs typeface="Archivo" pitchFamily="2" charset="0"/>
              </a:rPr>
            </a:br>
            <a:endParaRPr lang="en-US" sz="2400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B6C727D-26EA-7629-EC39-B85A9661A5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39686" y="2495744"/>
            <a:ext cx="7058839" cy="3339296"/>
          </a:xfrm>
        </p:spPr>
      </p:pic>
    </p:spTree>
    <p:extLst>
      <p:ext uri="{BB962C8B-B14F-4D97-AF65-F5344CB8AC3E}">
        <p14:creationId xmlns:p14="http://schemas.microsoft.com/office/powerpoint/2010/main" val="3468541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7A1C2-B8F2-B477-3A49-DF2059ECE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E8800-BCF5-CD47-669C-CDCF419B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866" y="926912"/>
            <a:ext cx="6798734" cy="1303867"/>
          </a:xfrm>
        </p:spPr>
        <p:txBody>
          <a:bodyPr>
            <a:norm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 </a:t>
            </a:r>
            <a:r>
              <a:rPr lang="en-US" sz="3600" b="1" dirty="0">
                <a:latin typeface="Garamond" panose="02020404030301010803" pitchFamily="18" charset="0"/>
              </a:rPr>
              <a:t>The Strategy of Selection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sz="2400" dirty="0">
                <a:latin typeface="Garamond" panose="02020404030301010803" pitchFamily="18" charset="0"/>
              </a:rPr>
              <a:t>Choosing Coverage Over Precision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AEDE9132-34A7-0B91-AACB-BC6D27B474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5" y="2384385"/>
            <a:ext cx="6798736" cy="3550747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800" b="1" dirty="0">
                <a:latin typeface="Garamond" panose="02020404030301010803" pitchFamily="18" charset="0"/>
              </a:rPr>
              <a:t>The Gap Identified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Socioeconomic divide in vaccination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Underserved groups missed by outreach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Garamond" panose="02020404030301010803" pitchFamily="18" charset="0"/>
              </a:rPr>
              <a:t>Model Comparison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Random Forest → High accuracy, low coverage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Logistic Regression → Lower accuracy, </a:t>
            </a:r>
            <a:r>
              <a:rPr lang="en-US" b="1" dirty="0">
                <a:latin typeface="Garamond" panose="02020404030301010803" pitchFamily="18" charset="0"/>
              </a:rPr>
              <a:t>high recall</a:t>
            </a:r>
            <a:r>
              <a:rPr lang="en-US" dirty="0">
                <a:latin typeface="Garamond" panose="02020404030301010803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Garamond" panose="02020404030301010803" pitchFamily="18" charset="0"/>
              </a:rPr>
              <a:t>The Decision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Selected: Logistic Regression (Coverage Specialist)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Captures more potential vaccinees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Reduces missed outreach opportunities </a:t>
            </a: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Coverage saves more lives than precision</a:t>
            </a:r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44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4EEE9-B8F8-67AE-981E-E6AAF9D2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7A867-2C15-34F2-DE84-17BA576A0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158" y="1038564"/>
            <a:ext cx="8015469" cy="1264797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Garamond" panose="02020404030301010803" pitchFamily="18" charset="0"/>
              </a:rPr>
              <a:t>The Interconnected Drivers of Vaccination</a:t>
            </a:r>
            <a:br>
              <a:rPr lang="en-US" sz="3600" b="1" dirty="0">
                <a:latin typeface="Garamond" panose="02020404030301010803" pitchFamily="18" charset="0"/>
              </a:rPr>
            </a:br>
            <a:r>
              <a:rPr lang="en-US" sz="1600" dirty="0"/>
              <a:t>Notice the strong positive correlation between </a:t>
            </a:r>
            <a:r>
              <a:rPr lang="en-US" sz="1600" b="1" dirty="0"/>
              <a:t>Doctor Recommendation </a:t>
            </a:r>
            <a:r>
              <a:rPr lang="en-US" sz="1600" dirty="0"/>
              <a:t>and </a:t>
            </a:r>
            <a:r>
              <a:rPr lang="en-US" sz="1600" b="1" dirty="0"/>
              <a:t>Vaccination Status</a:t>
            </a:r>
            <a:r>
              <a:rPr lang="en-US" sz="1600" dirty="0"/>
              <a:t>. This confirms that clinical intervention isn't just a minor factor.</a:t>
            </a:r>
            <a:br>
              <a:rPr lang="en-US" sz="1600" dirty="0"/>
            </a:br>
            <a:endParaRPr lang="en-US" sz="1600" b="1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B185F4-1BE4-A89E-D8C8-D9381E14C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02825" y="2453486"/>
            <a:ext cx="7153155" cy="3542199"/>
          </a:xfrm>
        </p:spPr>
      </p:pic>
    </p:spTree>
    <p:extLst>
      <p:ext uri="{BB962C8B-B14F-4D97-AF65-F5344CB8AC3E}">
        <p14:creationId xmlns:p14="http://schemas.microsoft.com/office/powerpoint/2010/main" val="1080190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7F88-0B1C-384E-BCE9-61FBAD97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FB5F3-E340-9994-0DD7-A04C284F6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The Predictive Engine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sz="2700" dirty="0">
                <a:latin typeface="Garamond" panose="02020404030301010803" pitchFamily="18" charset="0"/>
              </a:rPr>
              <a:t>From Data to Strategic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1B9C6-6F51-7AD0-33E6-4A6BE775E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2500" b="1" dirty="0">
                <a:latin typeface="Garamond" panose="02020404030301010803" pitchFamily="18" charset="0"/>
              </a:rPr>
              <a:t>Robust Foundation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Cleaned, encoded, and scaled data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Built for real-world generalization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500" b="1" dirty="0">
                <a:latin typeface="Garamond" panose="02020404030301010803" pitchFamily="18" charset="0"/>
              </a:rPr>
              <a:t>Model Performance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ROC-AUC: 0.80+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Strong ability to distinguish “Yes” vs “No”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500" b="1" dirty="0">
                <a:latin typeface="Garamond" panose="02020404030301010803" pitchFamily="18" charset="0"/>
              </a:rPr>
              <a:t>Strategic Optimization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Prioritized recall over accuracy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Avoided overfitting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A useful model finds people, not just patterns</a:t>
            </a: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endParaRPr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93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44B93-2D85-2352-727A-96E8012B8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39851-98F8-96ED-3A29-37D28F5B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503" y="509287"/>
            <a:ext cx="7888147" cy="1886672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Predictive Confidence Index</a:t>
            </a:r>
            <a:br>
              <a:rPr lang="en-US" sz="3600" b="1" dirty="0">
                <a:latin typeface="Garamond" panose="02020404030301010803" pitchFamily="18" charset="0"/>
                <a:cs typeface="Archivo" pitchFamily="2" charset="0"/>
              </a:rPr>
            </a:br>
            <a:r>
              <a:rPr lang="en-US" sz="2000" dirty="0">
                <a:latin typeface="Garamond" panose="02020404030301010803" pitchFamily="18" charset="0"/>
              </a:rPr>
              <a:t>At </a:t>
            </a:r>
            <a:r>
              <a:rPr lang="en-US" sz="2000" b="1" dirty="0">
                <a:latin typeface="Garamond" panose="02020404030301010803" pitchFamily="18" charset="0"/>
              </a:rPr>
              <a:t>0.85</a:t>
            </a:r>
            <a:r>
              <a:rPr lang="en-US" sz="2000" dirty="0">
                <a:latin typeface="Garamond" panose="02020404030301010803" pitchFamily="18" charset="0"/>
              </a:rPr>
              <a:t>, the model has an </a:t>
            </a:r>
            <a:r>
              <a:rPr lang="en-US" sz="2000" b="1" dirty="0">
                <a:latin typeface="Garamond" panose="02020404030301010803" pitchFamily="18" charset="0"/>
              </a:rPr>
              <a:t>85% success rate</a:t>
            </a:r>
            <a:r>
              <a:rPr lang="en-US" sz="2000" dirty="0">
                <a:latin typeface="Garamond" panose="02020404030301010803" pitchFamily="18" charset="0"/>
              </a:rPr>
              <a:t> in telling the 'Yes' group apart from the 'No' group.</a:t>
            </a:r>
            <a:endParaRPr lang="en-US" sz="2000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3F11209-F68E-4D98-43DD-F9FFE4A6BD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4871" y="2395959"/>
            <a:ext cx="7292051" cy="3831221"/>
          </a:xfrm>
        </p:spPr>
      </p:pic>
    </p:spTree>
    <p:extLst>
      <p:ext uri="{BB962C8B-B14F-4D97-AF65-F5344CB8AC3E}">
        <p14:creationId xmlns:p14="http://schemas.microsoft.com/office/powerpoint/2010/main" val="2151670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60209-0CE1-F601-92C7-302990881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7971A-6A32-6A17-5AF2-E089C0090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The Predictors of Impact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sz="2700" dirty="0">
                <a:latin typeface="Garamond" panose="02020404030301010803" pitchFamily="18" charset="0"/>
              </a:rPr>
              <a:t>What Actually Drives Vaccination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04165-FD99-153B-FDFB-036CF4209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Model Strength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High discrimination (ROC-AUC 0.80+)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Recall-focused → fewer missed vaccinees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Top 3 Drivers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Doctor Recommendation</a:t>
            </a:r>
            <a:r>
              <a:rPr lang="en-US" dirty="0">
                <a:latin typeface="Garamond" panose="02020404030301010803" pitchFamily="18" charset="0"/>
              </a:rPr>
              <a:t> (Strongest)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Past Behavior</a:t>
            </a:r>
            <a:r>
              <a:rPr lang="en-US" dirty="0">
                <a:latin typeface="Garamond" panose="02020404030301010803" pitchFamily="18" charset="0"/>
              </a:rPr>
              <a:t> (Flu shot history)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Trust in Effectiveness</a:t>
            </a:r>
            <a:r>
              <a:rPr lang="en-US" dirty="0">
                <a:latin typeface="Garamond" panose="02020404030301010803" pitchFamily="18" charset="0"/>
              </a:rPr>
              <a:t>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Trust + influence + habit = action</a:t>
            </a:r>
            <a:endParaRPr lang="en-US" dirty="0">
              <a:latin typeface="Garamond" panose="02020404030301010803" pitchFamily="18" charset="0"/>
            </a:endParaRP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39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8994F-EB14-F2A5-FABE-BC003470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CCB10-6DE6-2237-FD42-955CCB49C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182" y="830220"/>
            <a:ext cx="7789762" cy="154955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Garamond" panose="02020404030301010803" pitchFamily="18" charset="0"/>
              </a:rPr>
              <a:t>The 'Doctor Effect’</a:t>
            </a:r>
            <a:br>
              <a:rPr lang="en-US" sz="1400" dirty="0">
                <a:latin typeface="Garamond" panose="02020404030301010803" pitchFamily="18" charset="0"/>
              </a:rPr>
            </a:br>
            <a:r>
              <a:rPr lang="en-US" sz="1400" dirty="0"/>
              <a:t>The group on the right (</a:t>
            </a:r>
            <a:r>
              <a:rPr lang="en-US" sz="1400" b="1" dirty="0"/>
              <a:t>1.0</a:t>
            </a:r>
            <a:r>
              <a:rPr lang="en-US" sz="1400" dirty="0"/>
              <a:t>) shows a higher vaccination rate despite being smaller. This indicates that a </a:t>
            </a:r>
            <a:r>
              <a:rPr lang="en-US" sz="1400" b="1" dirty="0"/>
              <a:t>conversation with a healthcare provider</a:t>
            </a:r>
            <a:r>
              <a:rPr lang="en-US" sz="1400" dirty="0"/>
              <a:t> is one of the most effective ways to increase vaccination uptake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>
              <a:latin typeface="Garamond" panose="02020404030301010803" pitchFamily="18" charset="0"/>
              <a:cs typeface="Archivo" pitchFamily="2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69B4CF-3268-031D-A2FA-499A521EA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3064" y="2379775"/>
            <a:ext cx="7574880" cy="3648005"/>
          </a:xfrm>
        </p:spPr>
      </p:pic>
    </p:spTree>
    <p:extLst>
      <p:ext uri="{BB962C8B-B14F-4D97-AF65-F5344CB8AC3E}">
        <p14:creationId xmlns:p14="http://schemas.microsoft.com/office/powerpoint/2010/main" val="2274515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14CE-457F-B4D8-9FD8-A8F057A0B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43E9-71A8-98CF-64F9-6DDE6616D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From Prediction to Protection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sz="2700" dirty="0">
                <a:latin typeface="Garamond" panose="02020404030301010803" pitchFamily="18" charset="0"/>
              </a:rPr>
              <a:t>A Strategic Action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9B659-ED15-1CC0-740A-615031DA1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Drivers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Doctor influence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Behavioral history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Trust in vaccine effectiveness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Action Plan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Empower doctors</a:t>
            </a:r>
            <a:r>
              <a:rPr lang="en-US" dirty="0">
                <a:latin typeface="Garamond" panose="02020404030301010803" pitchFamily="18" charset="0"/>
              </a:rPr>
              <a:t> as primary messengers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Simplify communication</a:t>
            </a:r>
            <a:r>
              <a:rPr lang="en-US" dirty="0">
                <a:latin typeface="Garamond" panose="02020404030301010803" pitchFamily="18" charset="0"/>
              </a:rPr>
              <a:t> for underserved groups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Target flu-shot individuals first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Key Insight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Strategy turns predictions into impact</a:t>
            </a:r>
            <a:endParaRPr lang="en-US" dirty="0">
              <a:latin typeface="Garamond" panose="02020404030301010803" pitchFamily="18" charset="0"/>
            </a:endParaRPr>
          </a:p>
          <a:p>
            <a:pPr lvl="0"/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9460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2001C-A99C-04BF-F6D7-43C1950DA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445DA-683A-3791-C533-11A848C1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>
                <a:latin typeface="Garamond" panose="02020404030301010803" pitchFamily="18" charset="0"/>
              </a:rPr>
              <a:t>The Future of Public Health Intelligence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sz="2700" dirty="0">
                <a:latin typeface="Garamond" panose="02020404030301010803" pitchFamily="18" charset="0"/>
              </a:rPr>
              <a:t>Closing the Trust Gap with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1DF73-24B0-6980-F94E-623E1C119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Final Verdict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Garamond" panose="02020404030301010803" pitchFamily="18" charset="0"/>
              </a:rPr>
              <a:t>Vaccination is driven by trust, not just health awareness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Model captures ~72% of potential vaccinees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Enables proactive intervention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Strategic Roadmap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Equip doctors with communication tools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Eliminate jargon in outreach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Track trust &amp; information sources </a:t>
            </a:r>
            <a:br>
              <a:rPr lang="en-US" dirty="0">
                <a:latin typeface="Garamond" panose="02020404030301010803" pitchFamily="18" charset="0"/>
              </a:rPr>
            </a:b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Closing Statement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Garamond" panose="02020404030301010803" pitchFamily="18" charset="0"/>
              </a:rPr>
              <a:t>“Data-driven trust is our strongest defense.”</a:t>
            </a: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087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4C5A6-AE39-8E74-EDFD-4BF63B6E3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95B07-7566-B5D5-3932-9E669B8CC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Dialogue</a:t>
            </a:r>
            <a:br>
              <a:rPr lang="en-US" b="1" dirty="0">
                <a:latin typeface="Garamond" panose="02020404030301010803" pitchFamily="18" charset="0"/>
              </a:rPr>
            </a:br>
            <a:r>
              <a:rPr lang="en-US" sz="2700" dirty="0">
                <a:latin typeface="Garamond" panose="02020404030301010803" pitchFamily="18" charset="0"/>
              </a:rPr>
              <a:t>Bridging Data &amp;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8E8E1-BA9F-2A79-3399-389E119AF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Quick Summary</a:t>
            </a:r>
            <a:endParaRPr lang="en-US" dirty="0">
              <a:latin typeface="Garamond" panose="02020404030301010803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>
                <a:latin typeface="Garamond" panose="02020404030301010803" pitchFamily="18" charset="0"/>
              </a:rPr>
              <a:t>Model: </a:t>
            </a:r>
            <a:r>
              <a:rPr lang="en-US" sz="2600" dirty="0">
                <a:latin typeface="Garamond" panose="02020404030301010803" pitchFamily="18" charset="0"/>
              </a:rPr>
              <a:t>High-recall Logistic Regression maximizes community coverage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>
                <a:latin typeface="Garamond" panose="02020404030301010803" pitchFamily="18" charset="0"/>
              </a:rPr>
              <a:t>Insight: </a:t>
            </a:r>
            <a:r>
              <a:rPr lang="en-US" sz="2600" dirty="0">
                <a:latin typeface="Garamond" panose="02020404030301010803" pitchFamily="18" charset="0"/>
              </a:rPr>
              <a:t>Trust outweighs habits in driving vaccination.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600" b="1" dirty="0">
                <a:latin typeface="Garamond" panose="02020404030301010803" pitchFamily="18" charset="0"/>
              </a:rPr>
              <a:t>Strategy: </a:t>
            </a:r>
            <a:r>
              <a:rPr lang="en-US" sz="2600" dirty="0">
                <a:latin typeface="Garamond" panose="02020404030301010803" pitchFamily="18" charset="0"/>
              </a:rPr>
              <a:t>Clear, targeted communication to close information Gap.</a:t>
            </a:r>
          </a:p>
          <a:p>
            <a:pPr marL="0" lvl="0" indent="0">
              <a:buNone/>
            </a:pPr>
            <a:endParaRPr lang="en-US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Garamond" panose="02020404030301010803" pitchFamily="18" charset="0"/>
              </a:rPr>
              <a:t>Discussion</a:t>
            </a:r>
          </a:p>
          <a:p>
            <a:pPr marL="0" indent="0">
              <a:buNone/>
            </a:pPr>
            <a:r>
              <a:rPr lang="en-US" sz="2600" dirty="0">
                <a:latin typeface="Garamond" panose="02020404030301010803" pitchFamily="18" charset="0"/>
              </a:rPr>
              <a:t>welcome your technical inquiries, strategic critiques, or thoughts on how we can better map the 'Trust Threshold' for the next global health challenge.</a:t>
            </a:r>
          </a:p>
          <a:p>
            <a:pPr marL="0" indent="0">
              <a:buNone/>
            </a:pPr>
            <a:endParaRPr lang="en-US" i="1" dirty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US" sz="2900" b="1" dirty="0">
                <a:latin typeface="Garamond" panose="02020404030301010803" pitchFamily="18" charset="0"/>
              </a:rPr>
              <a:t>For Questions</a:t>
            </a:r>
            <a:r>
              <a:rPr lang="en-US" sz="2000" b="1" dirty="0">
                <a:latin typeface="Garamond" panose="02020404030301010803" pitchFamily="18" charset="0"/>
              </a:rPr>
              <a:t>, Inbox me at </a:t>
            </a:r>
            <a:r>
              <a:rPr lang="en-US" sz="2000" b="1" dirty="0">
                <a:latin typeface="Garamond" panose="02020404030301010803" pitchFamily="18" charset="0"/>
                <a:hlinkClick r:id="rId3"/>
              </a:rPr>
              <a:t>garangabel262@gmail.com</a:t>
            </a:r>
            <a:r>
              <a:rPr lang="en-US" sz="2000" b="1" dirty="0">
                <a:latin typeface="Garamond" panose="02020404030301010803" pitchFamily="18" charset="0"/>
              </a:rPr>
              <a:t>. I will get to you within 24 hours.</a:t>
            </a:r>
          </a:p>
          <a:p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990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503</TotalTime>
  <Words>1385</Words>
  <Application>Microsoft Office PowerPoint</Application>
  <PresentationFormat>On-screen Show (4:3)</PresentationFormat>
  <Paragraphs>170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Garamond</vt:lpstr>
      <vt:lpstr>Wingdings</vt:lpstr>
      <vt:lpstr>Organic</vt:lpstr>
      <vt:lpstr>The $20 Million Question  “In a public health crisis, every dollar spent on the wrong outreach can cost lives.” </vt:lpstr>
      <vt:lpstr>The Data Blueprint &amp; Strategic Gap Decoding Hidden Behavioral Patterns</vt:lpstr>
      <vt:lpstr>Decision tree Model</vt:lpstr>
      <vt:lpstr>Random Forest Model   Perception vs. Reality </vt:lpstr>
      <vt:lpstr>The Hierarchy of Influence The most influential factors driving an individual’s decision to get vaccinated.  </vt:lpstr>
      <vt:lpstr>The Anatomy of Decision-Making Trust vs. Habit: What Really Drives Vaccination</vt:lpstr>
      <vt:lpstr>Tableau Representation of the analysis</vt:lpstr>
      <vt:lpstr>Vaccinated vs. Unvaccinated The slices are nearly identical, indicating that gender was not a primary driver for H1N1 vaccination allowing us to focus on behavioral drivers </vt:lpstr>
      <vt:lpstr>Engineering Equity &amp; The Information Gap From Data Processing to Socioeconomic Insight</vt:lpstr>
      <vt:lpstr>Escaping the Accuracy Trap Prioritizing Recall Over Accuracy</vt:lpstr>
      <vt:lpstr>Perception of Risk as a Vaccination Drive The upward trend in the blue segments shows that while few who felt Low Risk got vaccinated, nearly half of those perceiving Highest Risk took action.  </vt:lpstr>
      <vt:lpstr> The Strategy of Selection Choosing Coverage Over Precision</vt:lpstr>
      <vt:lpstr>The Interconnected Drivers of Vaccination Notice the strong positive correlation between Doctor Recommendation and Vaccination Status. This confirms that clinical intervention isn't just a minor factor. </vt:lpstr>
      <vt:lpstr>The Predictive Engine From Data to Strategic Action</vt:lpstr>
      <vt:lpstr>Predictive Confidence Index At 0.85, the model has an 85% success rate in telling the 'Yes' group apart from the 'No' group.</vt:lpstr>
      <vt:lpstr>The Predictors of Impact What Actually Drives Vaccination</vt:lpstr>
      <vt:lpstr>The 'Doctor Effect’ The group on the right (1.0) shows a higher vaccination rate despite being smaller. This indicates that a conversation with a healthcare provider is one of the most effective ways to increase vaccination uptake. </vt:lpstr>
      <vt:lpstr>From Prediction to Protection A Strategic Action Plan</vt:lpstr>
      <vt:lpstr>The Future of Public Health Intelligence Closing the Trust Gap with Data</vt:lpstr>
      <vt:lpstr>Dialogue Bridging Data &amp; Strategy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DELL</cp:lastModifiedBy>
  <cp:revision>120</cp:revision>
  <dcterms:created xsi:type="dcterms:W3CDTF">2013-01-27T09:14:16Z</dcterms:created>
  <dcterms:modified xsi:type="dcterms:W3CDTF">2026-03-23T14:09:33Z</dcterms:modified>
  <cp:category/>
</cp:coreProperties>
</file>
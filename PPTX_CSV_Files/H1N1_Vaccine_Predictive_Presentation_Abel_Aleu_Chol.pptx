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20"/>
  </p:notesMasterIdLst>
  <p:sldIdLst>
    <p:sldId id="271" r:id="rId2"/>
    <p:sldId id="272" r:id="rId3"/>
    <p:sldId id="286" r:id="rId4"/>
    <p:sldId id="273" r:id="rId5"/>
    <p:sldId id="282" r:id="rId6"/>
    <p:sldId id="283" r:id="rId7"/>
    <p:sldId id="274" r:id="rId8"/>
    <p:sldId id="275" r:id="rId9"/>
    <p:sldId id="285" r:id="rId10"/>
    <p:sldId id="276" r:id="rId11"/>
    <p:sldId id="284" r:id="rId12"/>
    <p:sldId id="277" r:id="rId13"/>
    <p:sldId id="288" r:id="rId14"/>
    <p:sldId id="278" r:id="rId15"/>
    <p:sldId id="287" r:id="rId16"/>
    <p:sldId id="279" r:id="rId17"/>
    <p:sldId id="280" r:id="rId18"/>
    <p:sldId id="281"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 clrIdx="0">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5" d="100"/>
          <a:sy n="55" d="100"/>
        </p:scale>
        <p:origin x="1528"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7774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0C8B5-E90F-157F-E0C9-BE33299615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E23FF-94D6-B471-57F2-8A1D7F0EF1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9A5565C-F44A-36FC-0D73-8F91B2050B09}"/>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CA57C0D4-9046-900C-F5CC-CB04D03EA00F}"/>
              </a:ext>
            </a:extLst>
          </p:cNvPr>
          <p:cNvSpPr>
            <a:spLocks noGrp="1"/>
          </p:cNvSpPr>
          <p:nvPr>
            <p:ph type="sldNum" sz="quarter" idx="5"/>
          </p:nvPr>
        </p:nvSpPr>
        <p:spPr/>
      </p:sp>
    </p:spTree>
    <p:extLst>
      <p:ext uri="{BB962C8B-B14F-4D97-AF65-F5344CB8AC3E}">
        <p14:creationId xmlns:p14="http://schemas.microsoft.com/office/powerpoint/2010/main" val="28163778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87B7E-994A-5F8F-F083-8279FD138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7CEA7D-6F94-47A4-4C39-35E083BDB6D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DAA9A46-A084-E83B-0571-C9E944621254}"/>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D0BB6E85-F7D8-433C-CB94-0B197C3E96DB}"/>
              </a:ext>
            </a:extLst>
          </p:cNvPr>
          <p:cNvSpPr>
            <a:spLocks noGrp="1"/>
          </p:cNvSpPr>
          <p:nvPr>
            <p:ph type="sldNum" sz="quarter" idx="5"/>
          </p:nvPr>
        </p:nvSpPr>
        <p:spPr/>
      </p:sp>
    </p:spTree>
    <p:extLst>
      <p:ext uri="{BB962C8B-B14F-4D97-AF65-F5344CB8AC3E}">
        <p14:creationId xmlns:p14="http://schemas.microsoft.com/office/powerpoint/2010/main" val="25470215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1995A-5FB7-92E4-3B82-7F6AB3CBE6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B0AF11-FBDE-4049-1A75-02B73531171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E06E2F0-1A42-E270-BD08-A6BA82AB97F4}"/>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15855F24-FAC3-DF0E-4147-E98DDA1624E5}"/>
              </a:ext>
            </a:extLst>
          </p:cNvPr>
          <p:cNvSpPr>
            <a:spLocks noGrp="1"/>
          </p:cNvSpPr>
          <p:nvPr>
            <p:ph type="sldNum" sz="quarter" idx="5"/>
          </p:nvPr>
        </p:nvSpPr>
        <p:spPr/>
      </p:sp>
    </p:spTree>
    <p:extLst>
      <p:ext uri="{BB962C8B-B14F-4D97-AF65-F5344CB8AC3E}">
        <p14:creationId xmlns:p14="http://schemas.microsoft.com/office/powerpoint/2010/main" val="13107914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19F40-DD03-B390-036E-CD219479A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DD60D1-381D-F8B9-6FFA-7FC3A97521C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F85C73-40B1-8BA1-1424-47EE6F244BF6}"/>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6BAB3CCA-07C5-AFC7-2710-8986420F6882}"/>
              </a:ext>
            </a:extLst>
          </p:cNvPr>
          <p:cNvSpPr>
            <a:spLocks noGrp="1"/>
          </p:cNvSpPr>
          <p:nvPr>
            <p:ph type="sldNum" sz="quarter" idx="5"/>
          </p:nvPr>
        </p:nvSpPr>
        <p:spPr/>
      </p:sp>
    </p:spTree>
    <p:extLst>
      <p:ext uri="{BB962C8B-B14F-4D97-AF65-F5344CB8AC3E}">
        <p14:creationId xmlns:p14="http://schemas.microsoft.com/office/powerpoint/2010/main" val="3818065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32E55-FE90-2401-6A76-325DA9E96A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CAC4D-63E7-0827-13BF-B4A50297DD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AC4A14A-53D2-6CBF-672E-E38319F3F3C4}"/>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1991B05E-0204-66A8-8E2D-2D7B1A53A9D7}"/>
              </a:ext>
            </a:extLst>
          </p:cNvPr>
          <p:cNvSpPr>
            <a:spLocks noGrp="1"/>
          </p:cNvSpPr>
          <p:nvPr>
            <p:ph type="sldNum" sz="quarter" idx="5"/>
          </p:nvPr>
        </p:nvSpPr>
        <p:spPr/>
      </p:sp>
    </p:spTree>
    <p:extLst>
      <p:ext uri="{BB962C8B-B14F-4D97-AF65-F5344CB8AC3E}">
        <p14:creationId xmlns:p14="http://schemas.microsoft.com/office/powerpoint/2010/main" val="25353391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E1B82-C811-F9D7-7D2A-C898B48A0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12B38-48A6-1262-8687-03A2B32F740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A157358-4DAB-001F-6D24-0663364C121D}"/>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E478E3A6-17DB-BB10-C1C5-6FE80BB5EFBE}"/>
              </a:ext>
            </a:extLst>
          </p:cNvPr>
          <p:cNvSpPr>
            <a:spLocks noGrp="1"/>
          </p:cNvSpPr>
          <p:nvPr>
            <p:ph type="sldNum" sz="quarter" idx="5"/>
          </p:nvPr>
        </p:nvSpPr>
        <p:spPr/>
      </p:sp>
    </p:spTree>
    <p:extLst>
      <p:ext uri="{BB962C8B-B14F-4D97-AF65-F5344CB8AC3E}">
        <p14:creationId xmlns:p14="http://schemas.microsoft.com/office/powerpoint/2010/main" val="38625040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EF1B-9D8A-A1B5-3419-7DC54089B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C2476-D744-E9D7-7E86-E2A5493D24E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346EFA-948C-D654-92EA-BD2FBBA2B0D5}"/>
              </a:ext>
            </a:extLst>
          </p:cNvPr>
          <p:cNvSpPr>
            <a:spLocks noGrp="1"/>
          </p:cNvSpPr>
          <p:nvPr>
            <p:ph type="body" sz="quarter" idx="3"/>
          </p:nvPr>
        </p:nvSpPr>
        <p:spPr/>
        <p:txBody>
          <a:bodyPr/>
          <a:lstStyle/>
          <a:p>
            <a:r>
              <a:t>Explain the dataset, objective, and the challenge of predicting a rare event.</a:t>
            </a:r>
          </a:p>
        </p:txBody>
      </p:sp>
      <p:sp>
        <p:nvSpPr>
          <p:cNvPr id="4" name="Slide Number Placeholder 3">
            <a:extLst>
              <a:ext uri="{FF2B5EF4-FFF2-40B4-BE49-F238E27FC236}">
                <a16:creationId xmlns:a16="http://schemas.microsoft.com/office/drawing/2014/main" id="{DE6543C7-D5C1-0671-EA11-12CDC06B4B58}"/>
              </a:ext>
            </a:extLst>
          </p:cNvPr>
          <p:cNvSpPr>
            <a:spLocks noGrp="1"/>
          </p:cNvSpPr>
          <p:nvPr>
            <p:ph type="sldNum" sz="quarter" idx="5"/>
          </p:nvPr>
        </p:nvSpPr>
        <p:spPr/>
      </p:sp>
    </p:spTree>
    <p:extLst>
      <p:ext uri="{BB962C8B-B14F-4D97-AF65-F5344CB8AC3E}">
        <p14:creationId xmlns:p14="http://schemas.microsoft.com/office/powerpoint/2010/main" val="2635071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3B98D-6582-52CE-D0A1-AF5EAC7E1E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8BE577-F512-9FA4-95BD-E38093509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30DC3C9-502D-57F4-D2DB-14819BD36901}"/>
              </a:ext>
            </a:extLst>
          </p:cNvPr>
          <p:cNvSpPr>
            <a:spLocks noGrp="1"/>
          </p:cNvSpPr>
          <p:nvPr>
            <p:ph type="body" sz="quarter" idx="3"/>
          </p:nvPr>
        </p:nvSpPr>
        <p:spPr/>
        <p:txBody>
          <a:bodyPr/>
          <a:lstStyle/>
          <a:p>
            <a:r>
              <a:t>Explain the dataset, objective, and the challenge of predicting a rare event.</a:t>
            </a:r>
          </a:p>
        </p:txBody>
      </p:sp>
      <p:sp>
        <p:nvSpPr>
          <p:cNvPr id="4" name="Slide Number Placeholder 3">
            <a:extLst>
              <a:ext uri="{FF2B5EF4-FFF2-40B4-BE49-F238E27FC236}">
                <a16:creationId xmlns:a16="http://schemas.microsoft.com/office/drawing/2014/main" id="{E3650BA1-C114-10DC-99A2-96319CC16A40}"/>
              </a:ext>
            </a:extLst>
          </p:cNvPr>
          <p:cNvSpPr>
            <a:spLocks noGrp="1"/>
          </p:cNvSpPr>
          <p:nvPr>
            <p:ph type="sldNum" sz="quarter" idx="5"/>
          </p:nvPr>
        </p:nvSpPr>
        <p:spPr/>
      </p:sp>
    </p:spTree>
    <p:extLst>
      <p:ext uri="{BB962C8B-B14F-4D97-AF65-F5344CB8AC3E}">
        <p14:creationId xmlns:p14="http://schemas.microsoft.com/office/powerpoint/2010/main" val="21673433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31669-FC06-E49D-214F-651E93CE34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F804F-F00E-C179-0AAE-72B4543DE90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965D18A-0721-A858-858D-57BE8BF515F9}"/>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568D48B8-6118-E56E-C07B-3E42E03039A5}"/>
              </a:ext>
            </a:extLst>
          </p:cNvPr>
          <p:cNvSpPr>
            <a:spLocks noGrp="1"/>
          </p:cNvSpPr>
          <p:nvPr>
            <p:ph type="sldNum" sz="quarter" idx="5"/>
          </p:nvPr>
        </p:nvSpPr>
        <p:spPr/>
      </p:sp>
    </p:spTree>
    <p:extLst>
      <p:ext uri="{BB962C8B-B14F-4D97-AF65-F5344CB8AC3E}">
        <p14:creationId xmlns:p14="http://schemas.microsoft.com/office/powerpoint/2010/main" val="33793490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F2AB-A402-5541-4399-ED1CA84FC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8E54-BF88-832E-5A87-E35451DA69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7DB62FA-2984-DE2D-754F-63C9B061127E}"/>
              </a:ext>
            </a:extLst>
          </p:cNvPr>
          <p:cNvSpPr>
            <a:spLocks noGrp="1"/>
          </p:cNvSpPr>
          <p:nvPr>
            <p:ph type="body" sz="quarter" idx="3"/>
          </p:nvPr>
        </p:nvSpPr>
        <p:spPr/>
        <p:txBody>
          <a:bodyPr/>
          <a:lstStyle/>
          <a:p>
            <a:r>
              <a:t>Explain the dataset, objective, and the challenge of predicting a rare event.</a:t>
            </a:r>
          </a:p>
        </p:txBody>
      </p:sp>
      <p:sp>
        <p:nvSpPr>
          <p:cNvPr id="4" name="Slide Number Placeholder 3">
            <a:extLst>
              <a:ext uri="{FF2B5EF4-FFF2-40B4-BE49-F238E27FC236}">
                <a16:creationId xmlns:a16="http://schemas.microsoft.com/office/drawing/2014/main" id="{C3AAE934-CAF0-ADB3-AD68-D9CFB9320D96}"/>
              </a:ext>
            </a:extLst>
          </p:cNvPr>
          <p:cNvSpPr>
            <a:spLocks noGrp="1"/>
          </p:cNvSpPr>
          <p:nvPr>
            <p:ph type="sldNum" sz="quarter" idx="5"/>
          </p:nvPr>
        </p:nvSpPr>
        <p:spPr/>
      </p:sp>
    </p:spTree>
    <p:extLst>
      <p:ext uri="{BB962C8B-B14F-4D97-AF65-F5344CB8AC3E}">
        <p14:creationId xmlns:p14="http://schemas.microsoft.com/office/powerpoint/2010/main" val="3175239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E6BEE-ADFA-3FC5-11C5-CAD9D3EDC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27958-9A67-C254-C775-A49235F01A0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30444A7-30D3-949F-9266-E81511F38ACD}"/>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5ADC777D-876D-020B-9155-DFD3DE106F59}"/>
              </a:ext>
            </a:extLst>
          </p:cNvPr>
          <p:cNvSpPr>
            <a:spLocks noGrp="1"/>
          </p:cNvSpPr>
          <p:nvPr>
            <p:ph type="sldNum" sz="quarter" idx="5"/>
          </p:nvPr>
        </p:nvSpPr>
        <p:spPr/>
      </p:sp>
    </p:spTree>
    <p:extLst>
      <p:ext uri="{BB962C8B-B14F-4D97-AF65-F5344CB8AC3E}">
        <p14:creationId xmlns:p14="http://schemas.microsoft.com/office/powerpoint/2010/main" val="1376421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C4C04-A50C-08E0-24EB-24850519B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7DE6E7-8969-D6F5-E17D-F6B0534F009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938F41C-81B8-44B8-59EC-446479CBBB16}"/>
              </a:ext>
            </a:extLst>
          </p:cNvPr>
          <p:cNvSpPr>
            <a:spLocks noGrp="1"/>
          </p:cNvSpPr>
          <p:nvPr>
            <p:ph type="body" sz="quarter" idx="3"/>
          </p:nvPr>
        </p:nvSpPr>
        <p:spPr/>
        <p:txBody>
          <a:bodyPr/>
          <a:lstStyle/>
          <a:p>
            <a:r>
              <a:t>Explain that perception/trust drives vaccination more than behavior.</a:t>
            </a:r>
          </a:p>
        </p:txBody>
      </p:sp>
      <p:sp>
        <p:nvSpPr>
          <p:cNvPr id="4" name="Slide Number Placeholder 3">
            <a:extLst>
              <a:ext uri="{FF2B5EF4-FFF2-40B4-BE49-F238E27FC236}">
                <a16:creationId xmlns:a16="http://schemas.microsoft.com/office/drawing/2014/main" id="{E611DE1B-8672-6FE0-00C3-C3562D0D8A56}"/>
              </a:ext>
            </a:extLst>
          </p:cNvPr>
          <p:cNvSpPr>
            <a:spLocks noGrp="1"/>
          </p:cNvSpPr>
          <p:nvPr>
            <p:ph type="sldNum" sz="quarter" idx="5"/>
          </p:nvPr>
        </p:nvSpPr>
        <p:spPr/>
      </p:sp>
    </p:spTree>
    <p:extLst>
      <p:ext uri="{BB962C8B-B14F-4D97-AF65-F5344CB8AC3E}">
        <p14:creationId xmlns:p14="http://schemas.microsoft.com/office/powerpoint/2010/main" val="33659128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700E4-2D64-E336-B1F1-B8F53707A1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6FD31C-77C9-911D-7EE0-2BD8323B4A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69D85C3-926D-F2C9-D85B-6731117B7FA2}"/>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C876A120-AE5B-314A-19DB-CD8DCE65B6FD}"/>
              </a:ext>
            </a:extLst>
          </p:cNvPr>
          <p:cNvSpPr>
            <a:spLocks noGrp="1"/>
          </p:cNvSpPr>
          <p:nvPr>
            <p:ph type="sldNum" sz="quarter" idx="5"/>
          </p:nvPr>
        </p:nvSpPr>
        <p:spPr/>
      </p:sp>
    </p:spTree>
    <p:extLst>
      <p:ext uri="{BB962C8B-B14F-4D97-AF65-F5344CB8AC3E}">
        <p14:creationId xmlns:p14="http://schemas.microsoft.com/office/powerpoint/2010/main" val="8669980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925A1-4563-32E0-B05B-B81B073C2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230E1-404A-95EA-5FB6-1581F780570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27065A-77E6-52E8-7610-2ACF7EAAEF8C}"/>
              </a:ext>
            </a:extLst>
          </p:cNvPr>
          <p:cNvSpPr>
            <a:spLocks noGrp="1"/>
          </p:cNvSpPr>
          <p:nvPr>
            <p:ph type="body" sz="quarter" idx="3"/>
          </p:nvPr>
        </p:nvSpPr>
        <p:spPr/>
        <p:txBody>
          <a:bodyPr/>
          <a:lstStyle/>
          <a:p>
            <a:r>
              <a:t>Explain that perception/trust drives vaccination more than behavior.</a:t>
            </a:r>
          </a:p>
        </p:txBody>
      </p:sp>
      <p:sp>
        <p:nvSpPr>
          <p:cNvPr id="4" name="Slide Number Placeholder 3">
            <a:extLst>
              <a:ext uri="{FF2B5EF4-FFF2-40B4-BE49-F238E27FC236}">
                <a16:creationId xmlns:a16="http://schemas.microsoft.com/office/drawing/2014/main" id="{F2729728-DF8A-4ABF-954D-88B6E70BCBA3}"/>
              </a:ext>
            </a:extLst>
          </p:cNvPr>
          <p:cNvSpPr>
            <a:spLocks noGrp="1"/>
          </p:cNvSpPr>
          <p:nvPr>
            <p:ph type="sldNum" sz="quarter" idx="5"/>
          </p:nvPr>
        </p:nvSpPr>
        <p:spPr/>
      </p:sp>
    </p:spTree>
    <p:extLst>
      <p:ext uri="{BB962C8B-B14F-4D97-AF65-F5344CB8AC3E}">
        <p14:creationId xmlns:p14="http://schemas.microsoft.com/office/powerpoint/2010/main" val="243316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8717B-ED91-08E4-0372-62E95C6883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99123-7161-4667-B3AE-F4DF97D6AE7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1B8A53C-C587-AE8F-025C-4F13B19CD73F}"/>
              </a:ext>
            </a:extLst>
          </p:cNvPr>
          <p:cNvSpPr>
            <a:spLocks noGrp="1"/>
          </p:cNvSpPr>
          <p:nvPr>
            <p:ph type="body" sz="quarter" idx="3"/>
          </p:nvPr>
        </p:nvSpPr>
        <p:spPr/>
        <p:txBody>
          <a:bodyPr/>
          <a:lstStyle/>
          <a:p>
            <a:r>
              <a:t>Introduce yourself and the strategic question. Highlight the mission of moving public health to a proactive strategy.</a:t>
            </a:r>
          </a:p>
        </p:txBody>
      </p:sp>
      <p:sp>
        <p:nvSpPr>
          <p:cNvPr id="4" name="Slide Number Placeholder 3">
            <a:extLst>
              <a:ext uri="{FF2B5EF4-FFF2-40B4-BE49-F238E27FC236}">
                <a16:creationId xmlns:a16="http://schemas.microsoft.com/office/drawing/2014/main" id="{1316328F-F3F3-B351-7A4E-6F350CBE9A58}"/>
              </a:ext>
            </a:extLst>
          </p:cNvPr>
          <p:cNvSpPr>
            <a:spLocks noGrp="1"/>
          </p:cNvSpPr>
          <p:nvPr>
            <p:ph type="sldNum" sz="quarter" idx="5"/>
          </p:nvPr>
        </p:nvSpPr>
        <p:spPr/>
      </p:sp>
    </p:spTree>
    <p:extLst>
      <p:ext uri="{BB962C8B-B14F-4D97-AF65-F5344CB8AC3E}">
        <p14:creationId xmlns:p14="http://schemas.microsoft.com/office/powerpoint/2010/main" val="28296864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06CE3-1C71-F84C-50D2-6F60EFE309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AE306-B8A7-9D87-9C4C-4234D3CFF94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06AEFED-2DC5-FDBA-E671-F75FD5E8E15D}"/>
              </a:ext>
            </a:extLst>
          </p:cNvPr>
          <p:cNvSpPr>
            <a:spLocks noGrp="1"/>
          </p:cNvSpPr>
          <p:nvPr>
            <p:ph type="body" sz="quarter" idx="3"/>
          </p:nvPr>
        </p:nvSpPr>
        <p:spPr/>
        <p:txBody>
          <a:bodyPr/>
          <a:lstStyle/>
          <a:p>
            <a:r>
              <a:t>Explain that perception/trust drives vaccination more than behavior.</a:t>
            </a:r>
          </a:p>
        </p:txBody>
      </p:sp>
      <p:sp>
        <p:nvSpPr>
          <p:cNvPr id="4" name="Slide Number Placeholder 3">
            <a:extLst>
              <a:ext uri="{FF2B5EF4-FFF2-40B4-BE49-F238E27FC236}">
                <a16:creationId xmlns:a16="http://schemas.microsoft.com/office/drawing/2014/main" id="{5A3B363D-F233-CEA8-EB5E-A70A4DB494B3}"/>
              </a:ext>
            </a:extLst>
          </p:cNvPr>
          <p:cNvSpPr>
            <a:spLocks noGrp="1"/>
          </p:cNvSpPr>
          <p:nvPr>
            <p:ph type="sldNum" sz="quarter" idx="5"/>
          </p:nvPr>
        </p:nvSpPr>
        <p:spPr/>
      </p:sp>
    </p:spTree>
    <p:extLst>
      <p:ext uri="{BB962C8B-B14F-4D97-AF65-F5344CB8AC3E}">
        <p14:creationId xmlns:p14="http://schemas.microsoft.com/office/powerpoint/2010/main" val="26847770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BA3AC-8403-7E67-8890-88D948EC9D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6D2C45-84F9-35A4-8B30-139439F7CC6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D750B8F-9FC2-6EF8-F447-FAAF68498138}"/>
              </a:ext>
            </a:extLst>
          </p:cNvPr>
          <p:cNvSpPr>
            <a:spLocks noGrp="1"/>
          </p:cNvSpPr>
          <p:nvPr>
            <p:ph type="body" sz="quarter" idx="3"/>
          </p:nvPr>
        </p:nvSpPr>
        <p:spPr/>
        <p:txBody>
          <a:bodyPr/>
          <a:lstStyle/>
          <a:p>
            <a:r>
              <a:t>Discuss how education and income influence uptake and the importance of simplifying messages.</a:t>
            </a:r>
          </a:p>
        </p:txBody>
      </p:sp>
      <p:sp>
        <p:nvSpPr>
          <p:cNvPr id="4" name="Slide Number Placeholder 3">
            <a:extLst>
              <a:ext uri="{FF2B5EF4-FFF2-40B4-BE49-F238E27FC236}">
                <a16:creationId xmlns:a16="http://schemas.microsoft.com/office/drawing/2014/main" id="{D19388A3-6A8E-636E-A307-BA28AB7EA1B8}"/>
              </a:ext>
            </a:extLst>
          </p:cNvPr>
          <p:cNvSpPr>
            <a:spLocks noGrp="1"/>
          </p:cNvSpPr>
          <p:nvPr>
            <p:ph type="sldNum" sz="quarter" idx="5"/>
          </p:nvPr>
        </p:nvSpPr>
        <p:spPr/>
      </p:sp>
    </p:spTree>
    <p:extLst>
      <p:ext uri="{BB962C8B-B14F-4D97-AF65-F5344CB8AC3E}">
        <p14:creationId xmlns:p14="http://schemas.microsoft.com/office/powerpoint/2010/main" val="21583259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531AD-786E-8BF6-4A8B-AF260E5F43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F039A0-50EC-5E35-D1B0-C5AF47EFFB9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D77C799-AAE4-B0A9-5AC3-4CF69B0CA9A0}"/>
              </a:ext>
            </a:extLst>
          </p:cNvPr>
          <p:cNvSpPr>
            <a:spLocks noGrp="1"/>
          </p:cNvSpPr>
          <p:nvPr>
            <p:ph type="body" sz="quarter" idx="3"/>
          </p:nvPr>
        </p:nvSpPr>
        <p:spPr/>
        <p:txBody>
          <a:bodyPr/>
          <a:lstStyle/>
          <a:p>
            <a:r>
              <a:t>Discuss how education and income influence uptake and the importance of simplifying messages.</a:t>
            </a:r>
          </a:p>
        </p:txBody>
      </p:sp>
      <p:sp>
        <p:nvSpPr>
          <p:cNvPr id="4" name="Slide Number Placeholder 3">
            <a:extLst>
              <a:ext uri="{FF2B5EF4-FFF2-40B4-BE49-F238E27FC236}">
                <a16:creationId xmlns:a16="http://schemas.microsoft.com/office/drawing/2014/main" id="{26728965-01D4-60DE-D086-A227AA6987BE}"/>
              </a:ext>
            </a:extLst>
          </p:cNvPr>
          <p:cNvSpPr>
            <a:spLocks noGrp="1"/>
          </p:cNvSpPr>
          <p:nvPr>
            <p:ph type="sldNum" sz="quarter" idx="5"/>
          </p:nvPr>
        </p:nvSpPr>
        <p:spPr/>
      </p:sp>
    </p:spTree>
    <p:extLst>
      <p:ext uri="{BB962C8B-B14F-4D97-AF65-F5344CB8AC3E}">
        <p14:creationId xmlns:p14="http://schemas.microsoft.com/office/powerpoint/2010/main" val="326303866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9" name="Group 8"/>
          <p:cNvGrpSpPr/>
          <p:nvPr/>
        </p:nvGrpSpPr>
        <p:grpSpPr>
          <a:xfrm>
            <a:off x="0" y="0"/>
            <a:ext cx="9144000" cy="6858000"/>
            <a:chOff x="0" y="0"/>
            <a:chExt cx="9144000" cy="6858000"/>
          </a:xfrm>
        </p:grpSpPr>
        <p:pic>
          <p:nvPicPr>
            <p:cNvPr id="7" name="Picture 6" descr="SD-PanelTitle-V.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rot="5400000">
              <a:off x="3739196" y="525780"/>
              <a:ext cx="1664208" cy="612648"/>
            </a:xfrm>
            <a:prstGeom prst="rect">
              <a:avLst/>
            </a:prstGeom>
          </p:spPr>
        </p:pic>
        <p:pic>
          <p:nvPicPr>
            <p:cNvPr id="14" name="Picture 13"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rot="5400000">
              <a:off x="3739196" y="5719572"/>
              <a:ext cx="1664208" cy="612648"/>
            </a:xfrm>
            <a:prstGeom prst="rect">
              <a:avLst/>
            </a:prstGeom>
          </p:spPr>
        </p:pic>
      </p:grpSp>
      <p:sp>
        <p:nvSpPr>
          <p:cNvPr id="2" name="Title 1"/>
          <p:cNvSpPr>
            <a:spLocks noGrp="1"/>
          </p:cNvSpPr>
          <p:nvPr>
            <p:ph type="ctrTitle"/>
          </p:nvPr>
        </p:nvSpPr>
        <p:spPr>
          <a:xfrm>
            <a:off x="1921934" y="1811863"/>
            <a:ext cx="5308866" cy="1515533"/>
          </a:xfrm>
        </p:spPr>
        <p:txBody>
          <a:bodyPr anchor="b">
            <a:noAutofit/>
          </a:bodyPr>
          <a:lstStyle>
            <a:lvl1pPr algn="ct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1921934" y="3598327"/>
            <a:ext cx="5308866"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6065417" y="5054602"/>
            <a:ext cx="673276" cy="279400"/>
          </a:xfrm>
        </p:spPr>
        <p:txBody>
          <a:bodyPr/>
          <a:lstStyle/>
          <a:p>
            <a:fld id="{69EC92B0-FB3B-40B4-B980-899D5E21B355}" type="datetime1">
              <a:rPr lang="en-US" smtClean="0"/>
              <a:t>3/23/2026</a:t>
            </a:fld>
            <a:endParaRPr lang="en-US"/>
          </a:p>
        </p:txBody>
      </p:sp>
      <p:sp>
        <p:nvSpPr>
          <p:cNvPr id="5" name="Footer Placeholder 4"/>
          <p:cNvSpPr>
            <a:spLocks noGrp="1"/>
          </p:cNvSpPr>
          <p:nvPr>
            <p:ph type="ftr" sz="quarter" idx="11"/>
          </p:nvPr>
        </p:nvSpPr>
        <p:spPr>
          <a:xfrm>
            <a:off x="1921934" y="5054602"/>
            <a:ext cx="4064860" cy="279400"/>
          </a:xfrm>
        </p:spPr>
        <p:txBody>
          <a:bodyPr/>
          <a:lstStyle/>
          <a:p>
            <a:endParaRPr lang="en-US"/>
          </a:p>
        </p:txBody>
      </p:sp>
      <p:sp>
        <p:nvSpPr>
          <p:cNvPr id="6" name="Slide Number Placeholder 5"/>
          <p:cNvSpPr>
            <a:spLocks noGrp="1"/>
          </p:cNvSpPr>
          <p:nvPr>
            <p:ph type="sldNum" sz="quarter" idx="12"/>
          </p:nvPr>
        </p:nvSpPr>
        <p:spPr>
          <a:xfrm>
            <a:off x="6817317" y="5054602"/>
            <a:ext cx="413483" cy="279400"/>
          </a:xfrm>
        </p:spPr>
        <p:txBody>
          <a:bodyPr/>
          <a:lstStyle/>
          <a:p>
            <a:fld id="{C1FF6DA9-008F-8B48-92A6-B652298478BF}" type="slidenum">
              <a:rPr lang="en-US" smtClean="0"/>
              <a:t>‹#›</a:t>
            </a:fld>
            <a:endParaRPr lang="en-US"/>
          </a:p>
        </p:txBody>
      </p:sp>
      <p:cxnSp>
        <p:nvCxnSpPr>
          <p:cNvPr id="15" name="Straight Connector 14"/>
          <p:cNvCxnSpPr/>
          <p:nvPr/>
        </p:nvCxnSpPr>
        <p:spPr>
          <a:xfrm>
            <a:off x="2019825" y="3471329"/>
            <a:ext cx="511308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9406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278466" y="2354670"/>
            <a:ext cx="6595533"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5DF2D4-0812-4E03-9778-26487000FECA}"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5813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78465" y="1641413"/>
            <a:ext cx="6595534" cy="1822514"/>
          </a:xfrm>
        </p:spPr>
        <p:txBody>
          <a:bodyPr anchor="b">
            <a:normAutofit/>
          </a:bodyPr>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78465" y="3734859"/>
            <a:ext cx="6595534"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7F0687-B05E-4779-91F3-092FDA79BC57}"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31" name="Straight Connector 30"/>
          <p:cNvCxnSpPr/>
          <p:nvPr/>
        </p:nvCxnSpPr>
        <p:spPr>
          <a:xfrm>
            <a:off x="1278466" y="3599392"/>
            <a:ext cx="659553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850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176866" y="915337"/>
            <a:ext cx="6798734" cy="130386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176866" y="2487168"/>
            <a:ext cx="333756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5152" y="2487168"/>
            <a:ext cx="333756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DD0034-2A6F-4524-94A4-4874A388E7F6}" type="datetime1">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4583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76868"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76868" y="3243262"/>
            <a:ext cx="333756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41832"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1832" y="3243262"/>
            <a:ext cx="333756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7DB4F09-86B1-4AE5-89B1-060AB39DA8E6}" type="datetime1">
              <a:rPr lang="en-US" smtClean="0"/>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cxnSp>
        <p:nvCxnSpPr>
          <p:cNvPr id="41" name="Straight Connector 40"/>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6821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76865" y="915337"/>
            <a:ext cx="6798735" cy="1303867"/>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E02FAEC-92DF-4E1A-AF68-2AC683E77051}" type="datetime1">
              <a:rPr lang="en-US" smtClean="0"/>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751563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38620F-038D-424F-AAFD-F7A045D26CD1}" type="datetime1">
              <a:rPr lang="en-US" smtClean="0"/>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607874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388534"/>
            <a:ext cx="2536798"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120062" y="982132"/>
            <a:ext cx="3855539"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76865" y="3031065"/>
            <a:ext cx="2536798"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0358EC6-BD7D-41FA-A6DD-BD2780A44016}" type="datetime1">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16" name="Straight Connector 15"/>
          <p:cNvCxnSpPr/>
          <p:nvPr/>
        </p:nvCxnSpPr>
        <p:spPr>
          <a:xfrm>
            <a:off x="1278466" y="2912533"/>
            <a:ext cx="233359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56018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883832"/>
            <a:ext cx="3632202" cy="1371600"/>
          </a:xfrm>
        </p:spPr>
        <p:txBody>
          <a:bodyPr anchor="b">
            <a:normAutofit/>
          </a:bodyPr>
          <a:lstStyle>
            <a:lvl1pPr algn="ctr">
              <a:defRPr sz="24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5183070" y="1032933"/>
            <a:ext cx="2929463"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76865" y="3255432"/>
            <a:ext cx="3632201"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4F44F87-3E04-452A-B935-454ED8C5EFF2}" type="datetime1">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339257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4815415"/>
            <a:ext cx="6798734"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26260" y="1032933"/>
            <a:ext cx="7091482"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76866" y="5382153"/>
            <a:ext cx="6798734"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A5C3291-7D9D-47A5-A1CC-10C242414BCD}" type="datetime1">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3305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906873"/>
            <a:ext cx="6798734" cy="309786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76865" y="4275666"/>
            <a:ext cx="6798736"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23CA80-FF36-4377-8F66-75B4E3AC5E4A}"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278465" y="4140199"/>
            <a:ext cx="660642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742969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34333" y="982132"/>
            <a:ext cx="6400250"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00200" y="3352799"/>
            <a:ext cx="5892798"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76863" y="4343400"/>
            <a:ext cx="6798738"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59315B-A2CE-463D-A809-4CB896EF01C2}"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4" name="TextBox 13"/>
          <p:cNvSpPr txBox="1"/>
          <p:nvPr/>
        </p:nvSpPr>
        <p:spPr>
          <a:xfrm>
            <a:off x="849969" y="905362"/>
            <a:ext cx="45731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7633503" y="2827870"/>
            <a:ext cx="45731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278466" y="4140199"/>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948503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76869" y="3308581"/>
            <a:ext cx="679872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76868" y="4777381"/>
            <a:ext cx="6798730"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4F76B-22A8-4485-8429-0FDF238A501E}"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81195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09416" y="982132"/>
            <a:ext cx="632516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6" name="Text Placeholder 2"/>
          <p:cNvSpPr>
            <a:spLocks noGrp="1"/>
          </p:cNvSpPr>
          <p:nvPr>
            <p:ph type="body" idx="13"/>
          </p:nvPr>
        </p:nvSpPr>
        <p:spPr>
          <a:xfrm>
            <a:off x="1176868" y="3639312"/>
            <a:ext cx="6798730"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176865" y="4529667"/>
            <a:ext cx="6798736"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71C4A-5653-48FA-A851-D7965F5FD519}"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2" name="TextBox 11"/>
          <p:cNvSpPr txBox="1"/>
          <p:nvPr/>
        </p:nvSpPr>
        <p:spPr>
          <a:xfrm>
            <a:off x="878060" y="896895"/>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7649796" y="2607728"/>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278466" y="342900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92036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76865" y="982131"/>
            <a:ext cx="6798734" cy="2294467"/>
          </a:xfrm>
        </p:spPr>
        <p:txBody>
          <a:bodyPr vert="horz" lIns="91440" tIns="45720" rIns="91440" bIns="45720" rtlCol="0" anchor="ctr">
            <a:normAutofit/>
          </a:bodyPr>
          <a:lstStyle>
            <a:lvl1pPr>
              <a:defRPr lang="en-US" sz="3200" b="0" dirty="0"/>
            </a:lvl1pPr>
          </a:lstStyle>
          <a:p>
            <a:pPr marL="0" lvl="0"/>
            <a:r>
              <a:rPr lang="en-US"/>
              <a:t>Click to edit Master title style</a:t>
            </a:r>
            <a:endParaRPr lang="en-US" dirty="0"/>
          </a:p>
        </p:txBody>
      </p:sp>
      <p:sp>
        <p:nvSpPr>
          <p:cNvPr id="17" name="Text Placeholder 2"/>
          <p:cNvSpPr>
            <a:spLocks noGrp="1"/>
          </p:cNvSpPr>
          <p:nvPr>
            <p:ph type="body" idx="13"/>
          </p:nvPr>
        </p:nvSpPr>
        <p:spPr>
          <a:xfrm>
            <a:off x="1176868" y="3566160"/>
            <a:ext cx="6798730"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176866" y="4470400"/>
            <a:ext cx="6798734"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5EADAB-38BB-4BB3-AEEB-A4DF27324D1F}"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278469" y="3429000"/>
            <a:ext cx="660642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071300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176865" y="2490135"/>
            <a:ext cx="6798736" cy="338573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D0105F-F95F-4FD2-B6EA-B368A21B7D96}"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1278466" y="2354670"/>
            <a:ext cx="660642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640026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356667" y="906873"/>
            <a:ext cx="1618930" cy="496899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76867" y="906873"/>
            <a:ext cx="4915509" cy="496899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0B8CBDC-097D-4868-89EA-7E0FE15D2111}" type="datetime1">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4" name="Straight Connector 13"/>
          <p:cNvCxnSpPr/>
          <p:nvPr/>
        </p:nvCxnSpPr>
        <p:spPr>
          <a:xfrm>
            <a:off x="6245512" y="906873"/>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5353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0" y="0"/>
            <a:ext cx="9144000" cy="6858001"/>
            <a:chOff x="0" y="0"/>
            <a:chExt cx="9144000" cy="6858001"/>
          </a:xfrm>
        </p:grpSpPr>
        <p:pic>
          <p:nvPicPr>
            <p:cNvPr id="8" name="Picture 7" descr="SD-PanelContent-V.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rot="5400000">
              <a:off x="4221675" y="39689"/>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rot="5400000">
              <a:off x="4221675" y="6211888"/>
              <a:ext cx="685800" cy="606425"/>
            </a:xfrm>
            <a:prstGeom prst="rect">
              <a:avLst/>
            </a:prstGeom>
          </p:spPr>
        </p:pic>
      </p:grpSp>
      <p:sp>
        <p:nvSpPr>
          <p:cNvPr id="2" name="Title Placeholder 1"/>
          <p:cNvSpPr>
            <a:spLocks noGrp="1"/>
          </p:cNvSpPr>
          <p:nvPr>
            <p:ph type="title"/>
          </p:nvPr>
        </p:nvSpPr>
        <p:spPr>
          <a:xfrm>
            <a:off x="1176866" y="915337"/>
            <a:ext cx="6798734"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76865" y="2490135"/>
            <a:ext cx="6798736" cy="344499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356670" y="5960533"/>
            <a:ext cx="1148283"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37B8072-8B9E-4CE8-92B3-71DA27D879F7}" type="datetime1">
              <a:rPr lang="en-US" smtClean="0"/>
              <a:t>3/23/2026</a:t>
            </a:fld>
            <a:endParaRPr lang="en-US"/>
          </a:p>
        </p:txBody>
      </p:sp>
      <p:sp>
        <p:nvSpPr>
          <p:cNvPr id="5" name="Footer Placeholder 4"/>
          <p:cNvSpPr>
            <a:spLocks noGrp="1"/>
          </p:cNvSpPr>
          <p:nvPr>
            <p:ph type="ftr" sz="quarter" idx="3"/>
          </p:nvPr>
        </p:nvSpPr>
        <p:spPr>
          <a:xfrm>
            <a:off x="1176865" y="5960533"/>
            <a:ext cx="5104667"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7580091" y="5960533"/>
            <a:ext cx="39551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3267785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hf sldNum="0" hdr="0" dt="0"/>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mailto:garangabel262@gmail.com"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DCFC8-6544-CDBD-7075-81743CF303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117E0-EFE1-EDA0-DAE5-1831A991324E}"/>
              </a:ext>
            </a:extLst>
          </p:cNvPr>
          <p:cNvSpPr>
            <a:spLocks noGrp="1"/>
          </p:cNvSpPr>
          <p:nvPr>
            <p:ph type="title"/>
          </p:nvPr>
        </p:nvSpPr>
        <p:spPr>
          <a:xfrm>
            <a:off x="625033" y="763929"/>
            <a:ext cx="7836062" cy="1747776"/>
          </a:xfrm>
        </p:spPr>
        <p:txBody>
          <a:bodyPr>
            <a:noAutofit/>
          </a:bodyPr>
          <a:lstStyle/>
          <a:p>
            <a:r>
              <a:rPr lang="en-US" sz="3600" b="1" dirty="0">
                <a:latin typeface="Garamond" panose="02020404030301010803" pitchFamily="18" charset="0"/>
              </a:rPr>
              <a:t>The $20 Million Question</a:t>
            </a:r>
            <a:br>
              <a:rPr lang="en-US" sz="3600" b="1" dirty="0">
                <a:latin typeface="Garamond" panose="02020404030301010803" pitchFamily="18" charset="0"/>
              </a:rPr>
            </a:br>
            <a:r>
              <a:rPr lang="en-US" sz="1600" dirty="0">
                <a:latin typeface="Garamond" panose="02020404030301010803" pitchFamily="18" charset="0"/>
              </a:rPr>
              <a:t>Predicting Vaccine Intent Before the Next Outbreak</a:t>
            </a:r>
            <a:br>
              <a:rPr lang="en-US" sz="2400" dirty="0">
                <a:latin typeface="Garamond" panose="02020404030301010803" pitchFamily="18" charset="0"/>
              </a:rPr>
            </a:br>
            <a:r>
              <a:rPr lang="en-US" sz="1600" b="1" dirty="0">
                <a:latin typeface="Garamond" panose="02020404030301010803" pitchFamily="18" charset="0"/>
              </a:rPr>
              <a:t>“In a public health crisis, every dollar spent on the wrong outreach can cost lives.”</a:t>
            </a:r>
            <a:br>
              <a:rPr lang="en-US" sz="2400" b="1" dirty="0">
                <a:latin typeface="Garamond" panose="02020404030301010803" pitchFamily="18" charset="0"/>
              </a:rPr>
            </a:br>
            <a:endParaRPr lang="en-US" sz="2400" dirty="0">
              <a:latin typeface="Garamond" panose="02020404030301010803" pitchFamily="18" charset="0"/>
            </a:endParaRPr>
          </a:p>
        </p:txBody>
      </p:sp>
      <p:sp>
        <p:nvSpPr>
          <p:cNvPr id="3" name="Content Placeholder 2">
            <a:extLst>
              <a:ext uri="{FF2B5EF4-FFF2-40B4-BE49-F238E27FC236}">
                <a16:creationId xmlns:a16="http://schemas.microsoft.com/office/drawing/2014/main" id="{075798F7-2218-F597-D1FC-D87B2F9660C9}"/>
              </a:ext>
            </a:extLst>
          </p:cNvPr>
          <p:cNvSpPr>
            <a:spLocks noGrp="1"/>
          </p:cNvSpPr>
          <p:nvPr>
            <p:ph idx="1"/>
          </p:nvPr>
        </p:nvSpPr>
        <p:spPr>
          <a:xfrm>
            <a:off x="1655179" y="2511706"/>
            <a:ext cx="6227179" cy="3728228"/>
          </a:xfrm>
        </p:spPr>
        <p:txBody>
          <a:bodyPr>
            <a:normAutofit fontScale="55000" lnSpcReduction="20000"/>
          </a:bodyPr>
          <a:lstStyle/>
          <a:p>
            <a:pPr marL="0" indent="0" algn="ctr">
              <a:buNone/>
            </a:pPr>
            <a:endParaRPr lang="en-US" b="1" dirty="0">
              <a:latin typeface="Garamond" panose="02020404030301010803" pitchFamily="18" charset="0"/>
            </a:endParaRPr>
          </a:p>
          <a:p>
            <a:pPr marL="0" indent="0" algn="ctr">
              <a:buNone/>
            </a:pPr>
            <a:r>
              <a:rPr lang="en-US" sz="3600" b="1" dirty="0">
                <a:latin typeface="Garamond" panose="02020404030301010803" pitchFamily="18" charset="0"/>
              </a:rPr>
              <a:t>How do we predict who will say ‘Yes’ in advance?</a:t>
            </a:r>
          </a:p>
          <a:p>
            <a:endParaRPr lang="en-US" dirty="0">
              <a:latin typeface="Garamond" panose="02020404030301010803" pitchFamily="18" charset="0"/>
            </a:endParaRPr>
          </a:p>
          <a:p>
            <a:pPr marL="0" indent="0" algn="ctr">
              <a:buNone/>
            </a:pPr>
            <a:r>
              <a:rPr lang="en-US" sz="2900" b="1" dirty="0">
                <a:latin typeface="Garamond" panose="02020404030301010803" pitchFamily="18" charset="0"/>
              </a:rPr>
              <a:t>The Mission</a:t>
            </a:r>
          </a:p>
          <a:p>
            <a:pPr>
              <a:buFont typeface="Wingdings" panose="05000000000000000000" pitchFamily="2" charset="2"/>
              <a:buChar char="q"/>
            </a:pPr>
            <a:r>
              <a:rPr lang="en-US" dirty="0">
                <a:latin typeface="Garamond" panose="02020404030301010803" pitchFamily="18" charset="0"/>
              </a:rPr>
              <a:t>Transform health 2009 H1N1 data from </a:t>
            </a:r>
            <a:r>
              <a:rPr lang="en-US" b="1" dirty="0">
                <a:latin typeface="Garamond" panose="02020404030301010803" pitchFamily="18" charset="0"/>
              </a:rPr>
              <a:t>reactive guesswork → predictive precision</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Identify key drivers of vaccine uptake </a:t>
            </a:r>
          </a:p>
          <a:p>
            <a:pPr>
              <a:buFont typeface="Wingdings" panose="05000000000000000000" pitchFamily="2" charset="2"/>
              <a:buChar char="q"/>
            </a:pPr>
            <a:r>
              <a:rPr lang="en-US" dirty="0">
                <a:latin typeface="Garamond" panose="02020404030301010803" pitchFamily="18" charset="0"/>
              </a:rPr>
              <a:t>Target the right communities at the right time </a:t>
            </a:r>
          </a:p>
          <a:p>
            <a:pPr>
              <a:buFont typeface="Wingdings" panose="05000000000000000000" pitchFamily="2" charset="2"/>
              <a:buChar char="q"/>
            </a:pPr>
            <a:r>
              <a:rPr lang="en-US" dirty="0">
                <a:latin typeface="Garamond" panose="02020404030301010803" pitchFamily="18" charset="0"/>
              </a:rPr>
              <a:t>Measure the population’s </a:t>
            </a:r>
            <a:r>
              <a:rPr lang="en-US" b="1" dirty="0">
                <a:latin typeface="Garamond" panose="02020404030301010803" pitchFamily="18" charset="0"/>
              </a:rPr>
              <a:t>Trust Threshold</a:t>
            </a:r>
          </a:p>
          <a:p>
            <a:pPr marL="0" indent="0">
              <a:buNone/>
            </a:pPr>
            <a:endParaRPr lang="en-US" b="1"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This is not just a model — it’s a strategic decision-making tool</a:t>
            </a:r>
            <a:br>
              <a:rPr lang="en-US" dirty="0">
                <a:latin typeface="Garamond" panose="02020404030301010803" pitchFamily="18" charset="0"/>
              </a:rPr>
            </a:br>
            <a:endParaRPr sz="2800" dirty="0">
              <a:latin typeface="Garamond" panose="02020404030301010803" pitchFamily="18" charset="0"/>
            </a:endParaRPr>
          </a:p>
          <a:p>
            <a:pPr marL="0" indent="0">
              <a:buNone/>
            </a:pPr>
            <a:r>
              <a:rPr lang="en-US" sz="2800" b="1" dirty="0">
                <a:latin typeface="Garamond" panose="02020404030301010803" pitchFamily="18" charset="0"/>
              </a:rPr>
              <a:t>Prepared and </a:t>
            </a:r>
            <a:r>
              <a:rPr sz="2800" b="1" dirty="0">
                <a:latin typeface="Garamond" panose="02020404030301010803" pitchFamily="18" charset="0"/>
              </a:rPr>
              <a:t>Presented By: </a:t>
            </a:r>
            <a:r>
              <a:rPr sz="2800" dirty="0">
                <a:latin typeface="Garamond" panose="02020404030301010803" pitchFamily="18" charset="0"/>
              </a:rPr>
              <a:t>Abel Aleu Chol Garang</a:t>
            </a:r>
            <a:r>
              <a:rPr lang="en-US" sz="2800" dirty="0">
                <a:latin typeface="Garamond" panose="02020404030301010803" pitchFamily="18" charset="0"/>
              </a:rPr>
              <a:t> | Data Scientist</a:t>
            </a:r>
          </a:p>
        </p:txBody>
      </p:sp>
    </p:spTree>
    <p:extLst>
      <p:ext uri="{BB962C8B-B14F-4D97-AF65-F5344CB8AC3E}">
        <p14:creationId xmlns:p14="http://schemas.microsoft.com/office/powerpoint/2010/main" val="2634372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E4836-01DA-D19A-9D93-1AD286D88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5725-2D38-DDC3-B450-9C21271AA221}"/>
              </a:ext>
            </a:extLst>
          </p:cNvPr>
          <p:cNvSpPr>
            <a:spLocks noGrp="1"/>
          </p:cNvSpPr>
          <p:nvPr>
            <p:ph type="title"/>
          </p:nvPr>
        </p:nvSpPr>
        <p:spPr>
          <a:xfrm>
            <a:off x="353028" y="830221"/>
            <a:ext cx="8229600" cy="1143000"/>
          </a:xfrm>
        </p:spPr>
        <p:txBody>
          <a:bodyPr>
            <a:noAutofit/>
          </a:bodyPr>
          <a:lstStyle/>
          <a:p>
            <a:r>
              <a:rPr lang="en-US" sz="3600" b="1" dirty="0">
                <a:latin typeface="Garamond" panose="02020404030301010803" pitchFamily="18" charset="0"/>
              </a:rPr>
              <a:t>The Data Blueprint &amp; Strategic Gap</a:t>
            </a:r>
            <a:br>
              <a:rPr lang="en-US" sz="3600" b="1" dirty="0">
                <a:latin typeface="Garamond" panose="02020404030301010803" pitchFamily="18" charset="0"/>
              </a:rPr>
            </a:br>
            <a:r>
              <a:rPr lang="en-US" sz="2400" dirty="0">
                <a:latin typeface="Garamond" panose="02020404030301010803" pitchFamily="18" charset="0"/>
              </a:rPr>
              <a:t>Decoding Hidden Behavioral Patterns</a:t>
            </a:r>
          </a:p>
        </p:txBody>
      </p:sp>
      <p:sp>
        <p:nvSpPr>
          <p:cNvPr id="3" name="Content Placeholder 2">
            <a:extLst>
              <a:ext uri="{FF2B5EF4-FFF2-40B4-BE49-F238E27FC236}">
                <a16:creationId xmlns:a16="http://schemas.microsoft.com/office/drawing/2014/main" id="{42AD9FC4-D263-D31F-A7B5-87B3DC7776F4}"/>
              </a:ext>
            </a:extLst>
          </p:cNvPr>
          <p:cNvSpPr>
            <a:spLocks noGrp="1"/>
          </p:cNvSpPr>
          <p:nvPr>
            <p:ph idx="1"/>
          </p:nvPr>
        </p:nvSpPr>
        <p:spPr>
          <a:xfrm>
            <a:off x="1296365" y="2453833"/>
            <a:ext cx="6724892" cy="4016415"/>
          </a:xfrm>
        </p:spPr>
        <p:txBody>
          <a:bodyPr>
            <a:normAutofit fontScale="32500" lnSpcReduction="20000"/>
          </a:bodyPr>
          <a:lstStyle/>
          <a:p>
            <a:pPr marL="0" indent="0">
              <a:buNone/>
            </a:pPr>
            <a:r>
              <a:rPr lang="en-US" sz="3700" b="1" dirty="0">
                <a:latin typeface="Garamond" panose="02020404030301010803" pitchFamily="18" charset="0"/>
              </a:rPr>
              <a:t>The Core Conflict</a:t>
            </a:r>
          </a:p>
          <a:p>
            <a:pPr marL="0" indent="0">
              <a:buNone/>
            </a:pPr>
            <a:r>
              <a:rPr lang="en-US" dirty="0">
                <a:latin typeface="Garamond" panose="02020404030301010803" pitchFamily="18" charset="0"/>
              </a:rPr>
              <a:t>“Vaccine hesitancy is not just personal — it is a barrier to herd immunity.”</a:t>
            </a:r>
          </a:p>
          <a:p>
            <a:pPr>
              <a:buFont typeface="Wingdings" panose="05000000000000000000" pitchFamily="2" charset="2"/>
              <a:buChar char="q"/>
            </a:pPr>
            <a:r>
              <a:rPr lang="en-US" dirty="0">
                <a:latin typeface="Garamond" panose="02020404030301010803" pitchFamily="18" charset="0"/>
              </a:rPr>
              <a:t>When public health relies on guesswork:</a:t>
            </a:r>
          </a:p>
          <a:p>
            <a:pPr>
              <a:buFont typeface="Wingdings" panose="05000000000000000000" pitchFamily="2" charset="2"/>
              <a:buChar char="q"/>
            </a:pPr>
            <a:r>
              <a:rPr lang="en-US" dirty="0">
                <a:latin typeface="Garamond" panose="02020404030301010803" pitchFamily="18" charset="0"/>
              </a:rPr>
              <a:t>Resources are wasted </a:t>
            </a:r>
          </a:p>
          <a:p>
            <a:pPr>
              <a:buFont typeface="Wingdings" panose="05000000000000000000" pitchFamily="2" charset="2"/>
              <a:buChar char="q"/>
            </a:pPr>
            <a:r>
              <a:rPr lang="en-US" dirty="0">
                <a:latin typeface="Garamond" panose="02020404030301010803" pitchFamily="18" charset="0"/>
              </a:rPr>
              <a:t>Outreach becomes ineffective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3700" b="1" dirty="0">
                <a:latin typeface="Garamond" panose="02020404030301010803" pitchFamily="18" charset="0"/>
              </a:rPr>
              <a:t>The Dataset: 26,707 individuals | 35 variables</a:t>
            </a:r>
            <a:endParaRPr lang="en-US" sz="3700" dirty="0">
              <a:latin typeface="Garamond" panose="02020404030301010803" pitchFamily="18" charset="0"/>
            </a:endParaRPr>
          </a:p>
          <a:p>
            <a:pPr>
              <a:buFont typeface="Wingdings" panose="05000000000000000000" pitchFamily="2" charset="2"/>
              <a:buChar char="q"/>
            </a:pPr>
            <a:r>
              <a:rPr lang="en-US" sz="2800" b="1" dirty="0">
                <a:latin typeface="Garamond" panose="02020404030301010803" pitchFamily="18" charset="0"/>
              </a:rPr>
              <a:t>Psychological: </a:t>
            </a:r>
            <a:r>
              <a:rPr lang="en-US" sz="2800" dirty="0">
                <a:latin typeface="Garamond" panose="02020404030301010803" pitchFamily="18" charset="0"/>
              </a:rPr>
              <a:t>Risk perception, trust, opinions </a:t>
            </a:r>
          </a:p>
          <a:p>
            <a:pPr>
              <a:buFont typeface="Wingdings" panose="05000000000000000000" pitchFamily="2" charset="2"/>
              <a:buChar char="q"/>
            </a:pPr>
            <a:r>
              <a:rPr lang="en-US" sz="2800" b="1" dirty="0">
                <a:latin typeface="Garamond" panose="02020404030301010803" pitchFamily="18" charset="0"/>
              </a:rPr>
              <a:t>Behavioral: </a:t>
            </a:r>
            <a:r>
              <a:rPr lang="en-US" sz="2800" dirty="0">
                <a:latin typeface="Garamond" panose="02020404030301010803" pitchFamily="18" charset="0"/>
              </a:rPr>
              <a:t>Hygiene habits, preventive actions </a:t>
            </a:r>
          </a:p>
          <a:p>
            <a:pPr>
              <a:buFont typeface="Wingdings" panose="05000000000000000000" pitchFamily="2" charset="2"/>
              <a:buChar char="q"/>
            </a:pPr>
            <a:r>
              <a:rPr lang="en-US" sz="2800" b="1" dirty="0">
                <a:latin typeface="Garamond" panose="02020404030301010803" pitchFamily="18" charset="0"/>
              </a:rPr>
              <a:t>Demographic: </a:t>
            </a:r>
            <a:r>
              <a:rPr lang="en-US" sz="2800" dirty="0">
                <a:latin typeface="Garamond" panose="02020404030301010803" pitchFamily="18" charset="0"/>
              </a:rPr>
              <a:t>Income, education, access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3700" b="1" dirty="0">
                <a:latin typeface="Garamond" panose="02020404030301010803" pitchFamily="18" charset="0"/>
              </a:rPr>
              <a:t>The Challenge:</a:t>
            </a:r>
          </a:p>
          <a:p>
            <a:pPr>
              <a:buFont typeface="Wingdings" panose="05000000000000000000" pitchFamily="2" charset="2"/>
              <a:buChar char="q"/>
            </a:pPr>
            <a:r>
              <a:rPr lang="en-US" b="1" dirty="0">
                <a:latin typeface="Garamond" panose="02020404030301010803" pitchFamily="18" charset="0"/>
              </a:rPr>
              <a:t>Only 21% vaccinated → a hidden minority</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Difficult to identify (“needle-in-a-haystack”) </a:t>
            </a:r>
          </a:p>
          <a:p>
            <a:pPr>
              <a:buFont typeface="Wingdings" panose="05000000000000000000" pitchFamily="2" charset="2"/>
              <a:buChar char="q"/>
            </a:pPr>
            <a:r>
              <a:rPr lang="en-US" dirty="0">
                <a:latin typeface="Garamond" panose="02020404030301010803" pitchFamily="18" charset="0"/>
              </a:rPr>
              <a:t>Traditional approaches miss them </a:t>
            </a:r>
          </a:p>
          <a:p>
            <a:pPr>
              <a:buFont typeface="Wingdings" panose="05000000000000000000" pitchFamily="2" charset="2"/>
              <a:buChar char="q"/>
            </a:pPr>
            <a:r>
              <a:rPr lang="en-US" dirty="0">
                <a:latin typeface="Garamond" panose="02020404030301010803" pitchFamily="18" charset="0"/>
              </a:rPr>
              <a:t>Requires a high-recall model </a:t>
            </a:r>
          </a:p>
          <a:p>
            <a:pPr marL="0" indent="0">
              <a:buNone/>
            </a:pP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From mass marketing → precision outreach</a:t>
            </a:r>
            <a:endParaRPr lang="en-US" dirty="0">
              <a:latin typeface="Garamond" panose="02020404030301010803" pitchFamily="18" charset="0"/>
            </a:endParaRPr>
          </a:p>
        </p:txBody>
      </p:sp>
    </p:spTree>
    <p:extLst>
      <p:ext uri="{BB962C8B-B14F-4D97-AF65-F5344CB8AC3E}">
        <p14:creationId xmlns:p14="http://schemas.microsoft.com/office/powerpoint/2010/main" val="2634428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1C7FC-80D4-3195-5018-4C4D56FB47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590E4E-0D08-7653-D1CD-A678BCCDE41E}"/>
              </a:ext>
            </a:extLst>
          </p:cNvPr>
          <p:cNvSpPr>
            <a:spLocks noGrp="1"/>
          </p:cNvSpPr>
          <p:nvPr>
            <p:ph type="title"/>
          </p:nvPr>
        </p:nvSpPr>
        <p:spPr>
          <a:xfrm>
            <a:off x="787078" y="722240"/>
            <a:ext cx="7569843" cy="1997811"/>
          </a:xfrm>
        </p:spPr>
        <p:txBody>
          <a:bodyPr>
            <a:noAutofit/>
          </a:bodyPr>
          <a:lstStyle/>
          <a:p>
            <a:r>
              <a:rPr lang="en-US" sz="3600" b="1" dirty="0">
                <a:latin typeface="Garamond" panose="02020404030301010803" pitchFamily="18" charset="0"/>
              </a:rPr>
              <a:t>The Hierarchy of Influence</a:t>
            </a:r>
            <a:br>
              <a:rPr lang="en-US" sz="3600" b="1" dirty="0">
                <a:latin typeface="Garamond" panose="02020404030301010803" pitchFamily="18" charset="0"/>
              </a:rPr>
            </a:br>
            <a:r>
              <a:rPr lang="en-US" sz="2400" dirty="0"/>
              <a:t> </a:t>
            </a:r>
            <a:r>
              <a:rPr lang="en-US" sz="2400" dirty="0">
                <a:latin typeface="Garamond" panose="02020404030301010803" pitchFamily="18" charset="0"/>
              </a:rPr>
              <a:t>Perception vs. Reality</a:t>
            </a:r>
            <a:br>
              <a:rPr lang="en-US" sz="2400" dirty="0">
                <a:latin typeface="Garamond" panose="02020404030301010803" pitchFamily="18" charset="0"/>
              </a:rPr>
            </a:br>
            <a:r>
              <a:rPr lang="en-US" sz="1600" dirty="0"/>
              <a:t>Out of 30+ variables analyzed, these </a:t>
            </a:r>
            <a:r>
              <a:rPr lang="en-US" sz="1600" b="1" dirty="0"/>
              <a:t>15 represent the Vitals </a:t>
            </a:r>
            <a:r>
              <a:rPr lang="en-US" sz="1600" dirty="0"/>
              <a:t>the most influential factors driving an individual’s decision to get vaccinated.</a:t>
            </a:r>
            <a:br>
              <a:rPr lang="en-US" sz="1600" dirty="0"/>
            </a:br>
            <a:br>
              <a:rPr lang="en-US" sz="1600" b="1" dirty="0">
                <a:latin typeface="Garamond" panose="02020404030301010803" pitchFamily="18" charset="0"/>
                <a:cs typeface="Archivo" pitchFamily="2" charset="0"/>
              </a:rPr>
            </a:br>
            <a:endParaRPr lang="en-US" sz="16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00BE141C-1B16-F3E5-2828-2D5158E0E4C8}"/>
              </a:ext>
            </a:extLst>
          </p:cNvPr>
          <p:cNvPicPr>
            <a:picLocks noGrp="1" noChangeAspect="1"/>
          </p:cNvPicPr>
          <p:nvPr>
            <p:ph idx="1"/>
          </p:nvPr>
        </p:nvPicPr>
        <p:blipFill>
          <a:blip r:embed="rId3"/>
          <a:stretch>
            <a:fillRect/>
          </a:stretch>
        </p:blipFill>
        <p:spPr>
          <a:xfrm>
            <a:off x="1373033" y="2511706"/>
            <a:ext cx="6628219" cy="3541853"/>
          </a:xfrm>
        </p:spPr>
      </p:pic>
    </p:spTree>
    <p:extLst>
      <p:ext uri="{BB962C8B-B14F-4D97-AF65-F5344CB8AC3E}">
        <p14:creationId xmlns:p14="http://schemas.microsoft.com/office/powerpoint/2010/main" val="599051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9E41F-7831-975B-1295-945297BFC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264C76-71B1-F9D9-97B6-57BA9DEAB3EC}"/>
              </a:ext>
            </a:extLst>
          </p:cNvPr>
          <p:cNvSpPr>
            <a:spLocks noGrp="1"/>
          </p:cNvSpPr>
          <p:nvPr>
            <p:ph type="title"/>
          </p:nvPr>
        </p:nvSpPr>
        <p:spPr>
          <a:xfrm>
            <a:off x="353028" y="830221"/>
            <a:ext cx="8229600" cy="1143000"/>
          </a:xfrm>
        </p:spPr>
        <p:txBody>
          <a:bodyPr>
            <a:noAutofit/>
          </a:bodyPr>
          <a:lstStyle/>
          <a:p>
            <a:r>
              <a:rPr lang="en-US" sz="3600" b="1" dirty="0">
                <a:latin typeface="Garamond" panose="02020404030301010803" pitchFamily="18" charset="0"/>
                <a:cs typeface="Archivo" pitchFamily="2" charset="0"/>
              </a:rPr>
              <a:t>The Anatomy of Decision-Making</a:t>
            </a:r>
            <a:br>
              <a:rPr lang="en-US" sz="3600" b="1" dirty="0">
                <a:latin typeface="Garamond" panose="02020404030301010803" pitchFamily="18" charset="0"/>
                <a:cs typeface="Archivo" pitchFamily="2" charset="0"/>
              </a:rPr>
            </a:br>
            <a:r>
              <a:rPr lang="en-US" sz="2400" dirty="0">
                <a:latin typeface="Garamond" panose="02020404030301010803" pitchFamily="18" charset="0"/>
                <a:cs typeface="Archivo" pitchFamily="2" charset="0"/>
              </a:rPr>
              <a:t>Trust vs. Habit: What Really Drives Vaccination</a:t>
            </a:r>
          </a:p>
        </p:txBody>
      </p:sp>
      <p:sp>
        <p:nvSpPr>
          <p:cNvPr id="3" name="Content Placeholder 2">
            <a:extLst>
              <a:ext uri="{FF2B5EF4-FFF2-40B4-BE49-F238E27FC236}">
                <a16:creationId xmlns:a16="http://schemas.microsoft.com/office/drawing/2014/main" id="{AF036ED2-14EF-1E35-F6D1-E3ECF0415598}"/>
              </a:ext>
            </a:extLst>
          </p:cNvPr>
          <p:cNvSpPr>
            <a:spLocks noGrp="1"/>
          </p:cNvSpPr>
          <p:nvPr>
            <p:ph idx="1"/>
          </p:nvPr>
        </p:nvSpPr>
        <p:spPr>
          <a:xfrm>
            <a:off x="1006997" y="2453833"/>
            <a:ext cx="7575631" cy="3703899"/>
          </a:xfrm>
        </p:spPr>
        <p:txBody>
          <a:bodyPr>
            <a:normAutofit fontScale="32500" lnSpcReduction="20000"/>
          </a:bodyPr>
          <a:lstStyle/>
          <a:p>
            <a:pPr marL="0" indent="0">
              <a:buNone/>
            </a:pPr>
            <a:r>
              <a:rPr lang="en-US" sz="3400" b="1" dirty="0">
                <a:latin typeface="Garamond" panose="02020404030301010803" pitchFamily="18" charset="0"/>
                <a:cs typeface="Archivo" pitchFamily="2" charset="0"/>
              </a:rPr>
              <a:t>The Data Landscape 26,707 individuals | 35 variables</a:t>
            </a:r>
            <a:endParaRPr lang="en-US" sz="3400" dirty="0">
              <a:latin typeface="Garamond" panose="02020404030301010803" pitchFamily="18" charset="0"/>
              <a:cs typeface="Archivo" pitchFamily="2" charset="0"/>
            </a:endParaRPr>
          </a:p>
          <a:p>
            <a:pPr>
              <a:buFont typeface="Wingdings" panose="05000000000000000000" pitchFamily="2" charset="2"/>
              <a:buChar char="q"/>
            </a:pPr>
            <a:r>
              <a:rPr lang="en-US" b="1" dirty="0">
                <a:latin typeface="Garamond" panose="02020404030301010803" pitchFamily="18" charset="0"/>
                <a:cs typeface="Archivo" pitchFamily="2" charset="0"/>
              </a:rPr>
              <a:t>Who:</a:t>
            </a:r>
            <a:r>
              <a:rPr lang="en-US" dirty="0">
                <a:latin typeface="Garamond" panose="02020404030301010803" pitchFamily="18" charset="0"/>
                <a:cs typeface="Archivo" pitchFamily="2" charset="0"/>
              </a:rPr>
              <a:t> Age, race, income, education </a:t>
            </a:r>
          </a:p>
          <a:p>
            <a:pPr>
              <a:buFont typeface="Wingdings" panose="05000000000000000000" pitchFamily="2" charset="2"/>
              <a:buChar char="q"/>
            </a:pPr>
            <a:r>
              <a:rPr lang="en-US" b="1" dirty="0">
                <a:latin typeface="Garamond" panose="02020404030301010803" pitchFamily="18" charset="0"/>
                <a:cs typeface="Archivo" pitchFamily="2" charset="0"/>
              </a:rPr>
              <a:t>Actions:</a:t>
            </a:r>
            <a:r>
              <a:rPr lang="en-US" dirty="0">
                <a:latin typeface="Garamond" panose="02020404030301010803" pitchFamily="18" charset="0"/>
                <a:cs typeface="Archivo" pitchFamily="2" charset="0"/>
              </a:rPr>
              <a:t> Hygiene habits, preventive behavior </a:t>
            </a:r>
          </a:p>
          <a:p>
            <a:pPr>
              <a:buFont typeface="Wingdings" panose="05000000000000000000" pitchFamily="2" charset="2"/>
              <a:buChar char="q"/>
            </a:pPr>
            <a:r>
              <a:rPr lang="en-US" b="1" dirty="0">
                <a:latin typeface="Garamond" panose="02020404030301010803" pitchFamily="18" charset="0"/>
                <a:cs typeface="Archivo" pitchFamily="2" charset="0"/>
              </a:rPr>
              <a:t>Beliefs:</a:t>
            </a:r>
            <a:r>
              <a:rPr lang="en-US" dirty="0">
                <a:latin typeface="Garamond" panose="02020404030301010803" pitchFamily="18" charset="0"/>
                <a:cs typeface="Archivo" pitchFamily="2" charset="0"/>
              </a:rPr>
              <a:t> Risk perception, vaccine confidence </a:t>
            </a:r>
          </a:p>
          <a:p>
            <a:pPr>
              <a:buFont typeface="Wingdings" panose="05000000000000000000" pitchFamily="2" charset="2"/>
              <a:buChar char="q"/>
            </a:pPr>
            <a:r>
              <a:rPr lang="en-US" b="1" dirty="0">
                <a:latin typeface="Garamond" panose="02020404030301010803" pitchFamily="18" charset="0"/>
                <a:cs typeface="Archivo" pitchFamily="2" charset="0"/>
              </a:rPr>
              <a:t>Challenge:</a:t>
            </a:r>
            <a:r>
              <a:rPr lang="en-US" dirty="0">
                <a:latin typeface="Garamond" panose="02020404030301010803" pitchFamily="18" charset="0"/>
                <a:cs typeface="Archivo" pitchFamily="2" charset="0"/>
              </a:rPr>
              <a:t> 21% vaccinated → class imbalance </a:t>
            </a:r>
            <a:br>
              <a:rPr lang="en-US" dirty="0">
                <a:latin typeface="Garamond" panose="02020404030301010803" pitchFamily="18" charset="0"/>
                <a:cs typeface="Archivo" pitchFamily="2" charset="0"/>
              </a:rPr>
            </a:br>
            <a:endParaRPr lang="en-US" dirty="0">
              <a:latin typeface="Garamond" panose="02020404030301010803" pitchFamily="18" charset="0"/>
              <a:cs typeface="Archivo" pitchFamily="2" charset="0"/>
            </a:endParaRPr>
          </a:p>
          <a:p>
            <a:pPr marL="0" indent="0">
              <a:buNone/>
            </a:pPr>
            <a:r>
              <a:rPr lang="en-US" sz="3100" b="1" dirty="0">
                <a:latin typeface="Garamond" panose="02020404030301010803" pitchFamily="18" charset="0"/>
                <a:cs typeface="Archivo" pitchFamily="2" charset="0"/>
              </a:rPr>
              <a:t>The Strategic Discovery</a:t>
            </a:r>
          </a:p>
          <a:p>
            <a:pPr>
              <a:buFont typeface="Wingdings" panose="05000000000000000000" pitchFamily="2" charset="2"/>
              <a:buChar char="q"/>
            </a:pPr>
            <a:r>
              <a:rPr lang="en-US" dirty="0">
                <a:latin typeface="Garamond" panose="02020404030301010803" pitchFamily="18" charset="0"/>
                <a:cs typeface="Archivo" pitchFamily="2" charset="0"/>
              </a:rPr>
              <a:t>“Vaccination is not a habit — it is an act of trust.”</a:t>
            </a:r>
          </a:p>
          <a:p>
            <a:pPr>
              <a:buFont typeface="Wingdings" panose="05000000000000000000" pitchFamily="2" charset="2"/>
              <a:buChar char="q"/>
            </a:pPr>
            <a:r>
              <a:rPr lang="en-US" dirty="0">
                <a:latin typeface="Garamond" panose="02020404030301010803" pitchFamily="18" charset="0"/>
                <a:cs typeface="Archivo" pitchFamily="2" charset="0"/>
              </a:rPr>
              <a:t>Hygiene behaviors → weak predictors </a:t>
            </a:r>
          </a:p>
          <a:p>
            <a:pPr>
              <a:buFont typeface="Wingdings" panose="05000000000000000000" pitchFamily="2" charset="2"/>
              <a:buChar char="q"/>
            </a:pPr>
            <a:r>
              <a:rPr lang="en-US" b="1" dirty="0">
                <a:latin typeface="Garamond" panose="02020404030301010803" pitchFamily="18" charset="0"/>
                <a:cs typeface="Archivo" pitchFamily="2" charset="0"/>
              </a:rPr>
              <a:t>Trust in vaccine effectiveness → strongest driver</a:t>
            </a:r>
            <a:r>
              <a:rPr lang="en-US" dirty="0">
                <a:latin typeface="Garamond" panose="02020404030301010803" pitchFamily="18" charset="0"/>
                <a:cs typeface="Archivo" pitchFamily="2" charset="0"/>
              </a:rPr>
              <a:t> </a:t>
            </a:r>
          </a:p>
          <a:p>
            <a:pPr>
              <a:buFont typeface="Wingdings" panose="05000000000000000000" pitchFamily="2" charset="2"/>
              <a:buChar char="q"/>
            </a:pPr>
            <a:r>
              <a:rPr lang="en-US" dirty="0">
                <a:latin typeface="Garamond" panose="02020404030301010803" pitchFamily="18" charset="0"/>
                <a:cs typeface="Archivo" pitchFamily="2" charset="0"/>
              </a:rPr>
              <a:t>Concern alone does not translate into action </a:t>
            </a:r>
            <a:br>
              <a:rPr lang="en-US" dirty="0">
                <a:latin typeface="Garamond" panose="02020404030301010803" pitchFamily="18" charset="0"/>
                <a:cs typeface="Archivo" pitchFamily="2" charset="0"/>
              </a:rPr>
            </a:br>
            <a:endParaRPr lang="en-US" dirty="0">
              <a:latin typeface="Garamond" panose="02020404030301010803" pitchFamily="18" charset="0"/>
              <a:cs typeface="Archivo" pitchFamily="2" charset="0"/>
            </a:endParaRPr>
          </a:p>
          <a:p>
            <a:pPr marL="0" indent="0">
              <a:buNone/>
            </a:pPr>
            <a:r>
              <a:rPr lang="en-US" sz="3200" b="1" dirty="0">
                <a:latin typeface="Garamond" panose="02020404030301010803" pitchFamily="18" charset="0"/>
                <a:cs typeface="Archivo" pitchFamily="2" charset="0"/>
              </a:rPr>
              <a:t>Strategic Shift</a:t>
            </a:r>
          </a:p>
          <a:p>
            <a:pPr>
              <a:buFont typeface="Wingdings" panose="05000000000000000000" pitchFamily="2" charset="2"/>
              <a:buChar char="q"/>
            </a:pPr>
            <a:r>
              <a:rPr lang="en-US" dirty="0">
                <a:latin typeface="Garamond" panose="02020404030301010803" pitchFamily="18" charset="0"/>
                <a:cs typeface="Archivo" pitchFamily="2" charset="0"/>
              </a:rPr>
              <a:t>Move from </a:t>
            </a:r>
            <a:r>
              <a:rPr lang="en-US" b="1" dirty="0">
                <a:latin typeface="Garamond" panose="02020404030301010803" pitchFamily="18" charset="0"/>
                <a:cs typeface="Archivo" pitchFamily="2" charset="0"/>
              </a:rPr>
              <a:t>general awareness → trust-building communication</a:t>
            </a:r>
            <a:endParaRPr lang="en-US" dirty="0">
              <a:latin typeface="Garamond" panose="02020404030301010803" pitchFamily="18" charset="0"/>
              <a:cs typeface="Archivo" pitchFamily="2" charset="0"/>
            </a:endParaRPr>
          </a:p>
          <a:p>
            <a:pPr>
              <a:buFont typeface="Wingdings" panose="05000000000000000000" pitchFamily="2" charset="2"/>
              <a:buChar char="q"/>
            </a:pPr>
            <a:r>
              <a:rPr lang="en-US" dirty="0">
                <a:latin typeface="Garamond" panose="02020404030301010803" pitchFamily="18" charset="0"/>
                <a:cs typeface="Archivo" pitchFamily="2" charset="0"/>
              </a:rPr>
              <a:t>From: “Wash your hands” </a:t>
            </a:r>
          </a:p>
          <a:p>
            <a:pPr>
              <a:buFont typeface="Wingdings" panose="05000000000000000000" pitchFamily="2" charset="2"/>
              <a:buChar char="q"/>
            </a:pPr>
            <a:r>
              <a:rPr lang="en-US" dirty="0">
                <a:latin typeface="Garamond" panose="02020404030301010803" pitchFamily="18" charset="0"/>
                <a:cs typeface="Archivo" pitchFamily="2" charset="0"/>
              </a:rPr>
              <a:t>To: </a:t>
            </a:r>
            <a:r>
              <a:rPr lang="en-US" b="1" dirty="0">
                <a:latin typeface="Garamond" panose="02020404030301010803" pitchFamily="18" charset="0"/>
                <a:cs typeface="Archivo" pitchFamily="2" charset="0"/>
              </a:rPr>
              <a:t>“Why the vaccine works”</a:t>
            </a:r>
            <a:r>
              <a:rPr lang="en-US" dirty="0">
                <a:latin typeface="Garamond" panose="02020404030301010803" pitchFamily="18" charset="0"/>
                <a:cs typeface="Archivo" pitchFamily="2" charset="0"/>
              </a:rPr>
              <a:t> </a:t>
            </a:r>
          </a:p>
          <a:p>
            <a:pPr marL="0" indent="0">
              <a:buNone/>
            </a:pPr>
            <a:r>
              <a:rPr lang="en-US" b="1" dirty="0">
                <a:latin typeface="Garamond" panose="02020404030301010803" pitchFamily="18" charset="0"/>
                <a:cs typeface="Archivo" pitchFamily="2" charset="0"/>
              </a:rPr>
              <a:t>Key Insight</a:t>
            </a:r>
          </a:p>
          <a:p>
            <a:pPr>
              <a:buFont typeface="Wingdings" panose="05000000000000000000" pitchFamily="2" charset="2"/>
              <a:buChar char="q"/>
            </a:pPr>
            <a:r>
              <a:rPr lang="en-US" b="1" dirty="0">
                <a:latin typeface="Garamond" panose="02020404030301010803" pitchFamily="18" charset="0"/>
                <a:cs typeface="Archivo" pitchFamily="2" charset="0"/>
              </a:rPr>
              <a:t>Trust, not habit, determines vaccine uptake</a:t>
            </a:r>
            <a:endParaRPr lang="en-US" dirty="0">
              <a:latin typeface="Garamond" panose="02020404030301010803" pitchFamily="18" charset="0"/>
              <a:cs typeface="Archivo" pitchFamily="2" charset="0"/>
            </a:endParaRPr>
          </a:p>
          <a:p>
            <a:endParaRPr lang="en-US" dirty="0">
              <a:latin typeface="Garamond" panose="02020404030301010803" pitchFamily="18" charset="0"/>
              <a:cs typeface="Archivo" pitchFamily="2" charset="0"/>
            </a:endParaRPr>
          </a:p>
        </p:txBody>
      </p:sp>
    </p:spTree>
    <p:extLst>
      <p:ext uri="{BB962C8B-B14F-4D97-AF65-F5344CB8AC3E}">
        <p14:creationId xmlns:p14="http://schemas.microsoft.com/office/powerpoint/2010/main" val="3317617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EDA10-F04E-800C-E761-4BBCD6922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A211A5-828C-3141-37C9-E46F2B549AC9}"/>
              </a:ext>
            </a:extLst>
          </p:cNvPr>
          <p:cNvSpPr>
            <a:spLocks noGrp="1"/>
          </p:cNvSpPr>
          <p:nvPr>
            <p:ph type="title"/>
          </p:nvPr>
        </p:nvSpPr>
        <p:spPr>
          <a:xfrm>
            <a:off x="353028" y="830221"/>
            <a:ext cx="8229600" cy="1143000"/>
          </a:xfrm>
        </p:spPr>
        <p:txBody>
          <a:bodyPr>
            <a:noAutofit/>
          </a:bodyPr>
          <a:lstStyle/>
          <a:p>
            <a:r>
              <a:rPr lang="en-US" sz="3600" b="1" dirty="0">
                <a:latin typeface="Garamond" panose="02020404030301010803" pitchFamily="18" charset="0"/>
                <a:cs typeface="Archivo" pitchFamily="2" charset="0"/>
              </a:rPr>
              <a:t>Tableau Representation of the analysis</a:t>
            </a:r>
            <a:endParaRPr lang="en-US" sz="24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7A077AD0-01B4-ACF7-6130-53FAD1525599}"/>
              </a:ext>
            </a:extLst>
          </p:cNvPr>
          <p:cNvPicPr>
            <a:picLocks noGrp="1" noChangeAspect="1"/>
          </p:cNvPicPr>
          <p:nvPr>
            <p:ph idx="1"/>
          </p:nvPr>
        </p:nvPicPr>
        <p:blipFill>
          <a:blip r:embed="rId3"/>
          <a:stretch>
            <a:fillRect/>
          </a:stretch>
        </p:blipFill>
        <p:spPr>
          <a:xfrm>
            <a:off x="648182" y="1782502"/>
            <a:ext cx="7934446" cy="4178032"/>
          </a:xfrm>
        </p:spPr>
      </p:pic>
    </p:spTree>
    <p:extLst>
      <p:ext uri="{BB962C8B-B14F-4D97-AF65-F5344CB8AC3E}">
        <p14:creationId xmlns:p14="http://schemas.microsoft.com/office/powerpoint/2010/main" val="3610107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80747-A304-DCF0-8BC9-2EEF97BF75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6C496-B08F-E097-6674-2B04F03F4A61}"/>
              </a:ext>
            </a:extLst>
          </p:cNvPr>
          <p:cNvSpPr>
            <a:spLocks noGrp="1"/>
          </p:cNvSpPr>
          <p:nvPr>
            <p:ph type="title"/>
          </p:nvPr>
        </p:nvSpPr>
        <p:spPr>
          <a:xfrm>
            <a:off x="821803" y="949124"/>
            <a:ext cx="7639292" cy="1527858"/>
          </a:xfrm>
        </p:spPr>
        <p:txBody>
          <a:bodyPr>
            <a:noAutofit/>
          </a:bodyPr>
          <a:lstStyle/>
          <a:p>
            <a:r>
              <a:rPr lang="en-US" sz="2400" b="1" dirty="0">
                <a:latin typeface="Garamond" panose="02020404030301010803" pitchFamily="18" charset="0"/>
              </a:rPr>
              <a:t>Vaccinated vs. Unvaccinated</a:t>
            </a:r>
            <a:br>
              <a:rPr lang="en-US" sz="1600" dirty="0">
                <a:latin typeface="Garamond" panose="02020404030301010803" pitchFamily="18" charset="0"/>
              </a:rPr>
            </a:br>
            <a:r>
              <a:rPr lang="en-US" sz="1600" dirty="0"/>
              <a:t>Comparing both charts, the slices are nearly identical, indicating that </a:t>
            </a:r>
            <a:r>
              <a:rPr lang="en-US" sz="1600" b="1" dirty="0"/>
              <a:t>gender was not a primary driver</a:t>
            </a:r>
            <a:r>
              <a:rPr lang="en-US" sz="1600" dirty="0"/>
              <a:t> for H1N1 vaccination. Men and women made decisions at similar rates, allowing us to focus on </a:t>
            </a:r>
            <a:r>
              <a:rPr lang="en-US" sz="1600" b="1" dirty="0"/>
              <a:t>behavioral drivers</a:t>
            </a:r>
            <a:br>
              <a:rPr lang="en-US" sz="1600" dirty="0"/>
            </a:br>
            <a:br>
              <a:rPr lang="en-US" sz="1600" b="1" dirty="0">
                <a:latin typeface="Garamond" panose="02020404030301010803" pitchFamily="18" charset="0"/>
                <a:cs typeface="Archivo" pitchFamily="2" charset="0"/>
              </a:rPr>
            </a:br>
            <a:endParaRPr lang="en-US" sz="16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D45D400C-A2CA-5CBF-0150-C7483A90BA56}"/>
              </a:ext>
            </a:extLst>
          </p:cNvPr>
          <p:cNvPicPr>
            <a:picLocks noGrp="1" noChangeAspect="1"/>
          </p:cNvPicPr>
          <p:nvPr>
            <p:ph idx="1"/>
          </p:nvPr>
        </p:nvPicPr>
        <p:blipFill>
          <a:blip r:embed="rId3"/>
          <a:stretch>
            <a:fillRect/>
          </a:stretch>
        </p:blipFill>
        <p:spPr>
          <a:xfrm>
            <a:off x="821803" y="2476982"/>
            <a:ext cx="7639292" cy="3337333"/>
          </a:xfrm>
        </p:spPr>
      </p:pic>
    </p:spTree>
    <p:extLst>
      <p:ext uri="{BB962C8B-B14F-4D97-AF65-F5344CB8AC3E}">
        <p14:creationId xmlns:p14="http://schemas.microsoft.com/office/powerpoint/2010/main" val="907990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80A81-9B01-AB7B-05A9-D015F2096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055F1F-5FAA-7CCC-3500-E1FBCDDE3889}"/>
              </a:ext>
            </a:extLst>
          </p:cNvPr>
          <p:cNvSpPr>
            <a:spLocks noGrp="1"/>
          </p:cNvSpPr>
          <p:nvPr>
            <p:ph type="title"/>
          </p:nvPr>
        </p:nvSpPr>
        <p:spPr/>
        <p:txBody>
          <a:bodyPr>
            <a:normAutofit/>
          </a:bodyPr>
          <a:lstStyle/>
          <a:p>
            <a:r>
              <a:rPr lang="en-US" sz="2700" b="1" dirty="0">
                <a:latin typeface="Garamond" panose="02020404030301010803" pitchFamily="18" charset="0"/>
              </a:rPr>
              <a:t>Engineering Equity &amp; The Information Gap</a:t>
            </a:r>
            <a:br>
              <a:rPr lang="en-US" sz="3600" b="1" dirty="0">
                <a:latin typeface="Garamond" panose="02020404030301010803" pitchFamily="18" charset="0"/>
              </a:rPr>
            </a:br>
            <a:r>
              <a:rPr lang="en-US" sz="2700" dirty="0">
                <a:latin typeface="Garamond" panose="02020404030301010803" pitchFamily="18" charset="0"/>
              </a:rPr>
              <a:t>From Data Processing to Socioeconomic Insight</a:t>
            </a:r>
          </a:p>
        </p:txBody>
      </p:sp>
      <p:sp>
        <p:nvSpPr>
          <p:cNvPr id="3" name="Content Placeholder 2">
            <a:extLst>
              <a:ext uri="{FF2B5EF4-FFF2-40B4-BE49-F238E27FC236}">
                <a16:creationId xmlns:a16="http://schemas.microsoft.com/office/drawing/2014/main" id="{B85A8B9E-E18E-786C-C2AC-F594F1B24E4A}"/>
              </a:ext>
            </a:extLst>
          </p:cNvPr>
          <p:cNvSpPr>
            <a:spLocks noGrp="1"/>
          </p:cNvSpPr>
          <p:nvPr>
            <p:ph idx="1"/>
          </p:nvPr>
        </p:nvSpPr>
        <p:spPr>
          <a:xfrm>
            <a:off x="1176865" y="2490135"/>
            <a:ext cx="6798735" cy="3444997"/>
          </a:xfrm>
        </p:spPr>
        <p:txBody>
          <a:bodyPr>
            <a:normAutofit fontScale="40000" lnSpcReduction="20000"/>
          </a:bodyPr>
          <a:lstStyle/>
          <a:p>
            <a:pPr marL="0" indent="0">
              <a:buNone/>
            </a:pPr>
            <a:r>
              <a:rPr lang="en-US" sz="2800" b="1" dirty="0">
                <a:latin typeface="Garamond" panose="02020404030301010803" pitchFamily="18" charset="0"/>
              </a:rPr>
              <a:t>Data Preparation</a:t>
            </a:r>
          </a:p>
          <a:p>
            <a:pPr>
              <a:buFont typeface="Wingdings" panose="05000000000000000000" pitchFamily="2" charset="2"/>
              <a:buChar char="q"/>
            </a:pPr>
            <a:r>
              <a:rPr lang="en-US" dirty="0">
                <a:latin typeface="Garamond" panose="02020404030301010803" pitchFamily="18" charset="0"/>
              </a:rPr>
              <a:t>Imputation: handled missing values </a:t>
            </a:r>
          </a:p>
          <a:p>
            <a:pPr>
              <a:buFont typeface="Wingdings" panose="05000000000000000000" pitchFamily="2" charset="2"/>
              <a:buChar char="q"/>
            </a:pPr>
            <a:r>
              <a:rPr lang="en-US" dirty="0">
                <a:latin typeface="Garamond" panose="02020404030301010803" pitchFamily="18" charset="0"/>
              </a:rPr>
              <a:t>Encoding: converted categorical variables </a:t>
            </a:r>
          </a:p>
          <a:p>
            <a:pPr>
              <a:buFont typeface="Wingdings" panose="05000000000000000000" pitchFamily="2" charset="2"/>
              <a:buChar char="q"/>
            </a:pPr>
            <a:r>
              <a:rPr lang="en-US" dirty="0">
                <a:latin typeface="Garamond" panose="02020404030301010803" pitchFamily="18" charset="0"/>
              </a:rPr>
              <a:t>Scaling: normalized numerical features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3000" b="1" dirty="0">
                <a:latin typeface="Garamond" panose="02020404030301010803" pitchFamily="18" charset="0"/>
              </a:rPr>
              <a:t>The Discovery</a:t>
            </a:r>
          </a:p>
          <a:p>
            <a:pPr>
              <a:buFont typeface="Wingdings" panose="05000000000000000000" pitchFamily="2" charset="2"/>
              <a:buChar char="q"/>
            </a:pPr>
            <a:r>
              <a:rPr lang="en-US" b="1" dirty="0">
                <a:latin typeface="Garamond" panose="02020404030301010803" pitchFamily="18" charset="0"/>
              </a:rPr>
              <a:t>Vaccination gap = Information gap</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Lower income &amp; education → lower uptake </a:t>
            </a:r>
          </a:p>
          <a:p>
            <a:pPr>
              <a:buFont typeface="Wingdings" panose="05000000000000000000" pitchFamily="2" charset="2"/>
              <a:buChar char="q"/>
            </a:pPr>
            <a:r>
              <a:rPr lang="en-US" dirty="0">
                <a:latin typeface="Garamond" panose="02020404030301010803" pitchFamily="18" charset="0"/>
              </a:rPr>
              <a:t>Complex messaging limits understanding </a:t>
            </a:r>
          </a:p>
          <a:p>
            <a:pPr>
              <a:buFont typeface="Wingdings" panose="05000000000000000000" pitchFamily="2" charset="2"/>
              <a:buChar char="q"/>
            </a:pPr>
            <a:r>
              <a:rPr lang="en-US" dirty="0">
                <a:latin typeface="Garamond" panose="02020404030301010803" pitchFamily="18" charset="0"/>
              </a:rPr>
              <a:t>Trust breaks where clarity is missing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600" b="1" dirty="0">
                <a:latin typeface="Garamond" panose="02020404030301010803" pitchFamily="18" charset="0"/>
              </a:rPr>
              <a:t>Strategic Shift</a:t>
            </a:r>
          </a:p>
          <a:p>
            <a:pPr>
              <a:buFont typeface="Wingdings" panose="05000000000000000000" pitchFamily="2" charset="2"/>
              <a:buChar char="q"/>
            </a:pPr>
            <a:r>
              <a:rPr lang="en-US" b="1" dirty="0">
                <a:latin typeface="Garamond" panose="02020404030301010803" pitchFamily="18" charset="0"/>
              </a:rPr>
              <a:t>From academic jargon → community-first communication</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Access to clear information drives equity</a:t>
            </a:r>
            <a:endParaRPr lang="en-US" dirty="0">
              <a:latin typeface="Garamond" panose="02020404030301010803" pitchFamily="18" charset="0"/>
            </a:endParaRPr>
          </a:p>
          <a:p>
            <a:endParaRPr lang="en-US" dirty="0">
              <a:latin typeface="Garamond" panose="02020404030301010803" pitchFamily="18" charset="0"/>
            </a:endParaRPr>
          </a:p>
        </p:txBody>
      </p:sp>
    </p:spTree>
    <p:extLst>
      <p:ext uri="{BB962C8B-B14F-4D97-AF65-F5344CB8AC3E}">
        <p14:creationId xmlns:p14="http://schemas.microsoft.com/office/powerpoint/2010/main" val="699808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87181-9552-270E-C500-0B6E4EED9D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BF6588-C9F8-B5D3-086F-6EA1ADC3336F}"/>
              </a:ext>
            </a:extLst>
          </p:cNvPr>
          <p:cNvSpPr>
            <a:spLocks noGrp="1"/>
          </p:cNvSpPr>
          <p:nvPr>
            <p:ph type="title"/>
          </p:nvPr>
        </p:nvSpPr>
        <p:spPr/>
        <p:txBody>
          <a:bodyPr>
            <a:normAutofit/>
          </a:bodyPr>
          <a:lstStyle/>
          <a:p>
            <a:r>
              <a:rPr lang="en-US" sz="3600" b="1" dirty="0">
                <a:latin typeface="Garamond" panose="02020404030301010803" pitchFamily="18" charset="0"/>
              </a:rPr>
              <a:t>Escaping the Accuracy Trap</a:t>
            </a:r>
            <a:br>
              <a:rPr lang="en-US" sz="3600" b="1" dirty="0">
                <a:latin typeface="Garamond" panose="02020404030301010803" pitchFamily="18" charset="0"/>
              </a:rPr>
            </a:br>
            <a:r>
              <a:rPr lang="en-US" sz="2700" dirty="0">
                <a:latin typeface="Garamond" panose="02020404030301010803" pitchFamily="18" charset="0"/>
              </a:rPr>
              <a:t>Prioritizing Recall Over Accuracy</a:t>
            </a:r>
          </a:p>
        </p:txBody>
      </p:sp>
      <p:sp>
        <p:nvSpPr>
          <p:cNvPr id="3" name="Content Placeholder 2">
            <a:extLst>
              <a:ext uri="{FF2B5EF4-FFF2-40B4-BE49-F238E27FC236}">
                <a16:creationId xmlns:a16="http://schemas.microsoft.com/office/drawing/2014/main" id="{F2E71823-E482-82DF-AD19-6AFE5CB1B331}"/>
              </a:ext>
            </a:extLst>
          </p:cNvPr>
          <p:cNvSpPr>
            <a:spLocks noGrp="1"/>
          </p:cNvSpPr>
          <p:nvPr>
            <p:ph idx="1"/>
          </p:nvPr>
        </p:nvSpPr>
        <p:spPr/>
        <p:txBody>
          <a:bodyPr>
            <a:normAutofit fontScale="47500" lnSpcReduction="20000"/>
          </a:bodyPr>
          <a:lstStyle/>
          <a:p>
            <a:pPr marL="0" indent="0">
              <a:buNone/>
            </a:pPr>
            <a:r>
              <a:rPr lang="en-US" sz="2500" b="1" dirty="0">
                <a:latin typeface="Garamond" panose="02020404030301010803" pitchFamily="18" charset="0"/>
              </a:rPr>
              <a:t>The Core Discovery</a:t>
            </a:r>
          </a:p>
          <a:p>
            <a:pPr>
              <a:buFont typeface="Wingdings" panose="05000000000000000000" pitchFamily="2" charset="2"/>
              <a:buChar char="q"/>
            </a:pPr>
            <a:r>
              <a:rPr lang="en-US" dirty="0">
                <a:latin typeface="Garamond" panose="02020404030301010803" pitchFamily="18" charset="0"/>
              </a:rPr>
              <a:t>Hygiene ≠ vaccination </a:t>
            </a:r>
          </a:p>
          <a:p>
            <a:pPr>
              <a:buFont typeface="Wingdings" panose="05000000000000000000" pitchFamily="2" charset="2"/>
              <a:buChar char="q"/>
            </a:pPr>
            <a:r>
              <a:rPr lang="en-US" b="1" dirty="0">
                <a:latin typeface="Garamond" panose="02020404030301010803" pitchFamily="18" charset="0"/>
              </a:rPr>
              <a:t>Trust in effectiveness = key driver</a:t>
            </a:r>
            <a:r>
              <a:rPr lang="en-US" dirty="0">
                <a:latin typeface="Garamond" panose="02020404030301010803" pitchFamily="18" charset="0"/>
              </a:rPr>
              <a:t>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500" b="1" dirty="0">
                <a:latin typeface="Garamond" panose="02020404030301010803" pitchFamily="18" charset="0"/>
              </a:rPr>
              <a:t>The Problem with Accuracy</a:t>
            </a:r>
          </a:p>
          <a:p>
            <a:pPr>
              <a:buFont typeface="Wingdings" panose="05000000000000000000" pitchFamily="2" charset="2"/>
              <a:buChar char="q"/>
            </a:pPr>
            <a:r>
              <a:rPr lang="en-US" dirty="0">
                <a:latin typeface="Garamond" panose="02020404030301010803" pitchFamily="18" charset="0"/>
              </a:rPr>
              <a:t>79% accuracy possible by predicting “No” </a:t>
            </a:r>
          </a:p>
          <a:p>
            <a:pPr>
              <a:buFont typeface="Wingdings" panose="05000000000000000000" pitchFamily="2" charset="2"/>
              <a:buChar char="q"/>
            </a:pPr>
            <a:r>
              <a:rPr lang="en-US" dirty="0">
                <a:latin typeface="Garamond" panose="02020404030301010803" pitchFamily="18" charset="0"/>
              </a:rPr>
              <a:t>High accuracy can still fail in practice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900" b="1" dirty="0">
                <a:latin typeface="Garamond" panose="02020404030301010803" pitchFamily="18" charset="0"/>
              </a:rPr>
              <a:t>The Strategic Pivot</a:t>
            </a:r>
          </a:p>
          <a:p>
            <a:pPr>
              <a:buFont typeface="Wingdings" panose="05000000000000000000" pitchFamily="2" charset="2"/>
              <a:buChar char="q"/>
            </a:pPr>
            <a:r>
              <a:rPr lang="en-US" dirty="0">
                <a:latin typeface="Garamond" panose="02020404030301010803" pitchFamily="18" charset="0"/>
              </a:rPr>
              <a:t>Focus on </a:t>
            </a:r>
            <a:r>
              <a:rPr lang="en-US" b="1" dirty="0">
                <a:latin typeface="Garamond" panose="02020404030301010803" pitchFamily="18" charset="0"/>
              </a:rPr>
              <a:t>Recall (find potential vaccinees)</a:t>
            </a:r>
            <a:r>
              <a:rPr lang="en-US" dirty="0">
                <a:latin typeface="Garamond" panose="02020404030301010803" pitchFamily="18" charset="0"/>
              </a:rPr>
              <a:t> </a:t>
            </a:r>
          </a:p>
          <a:p>
            <a:pPr>
              <a:buFont typeface="Wingdings" panose="05000000000000000000" pitchFamily="2" charset="2"/>
              <a:buChar char="q"/>
            </a:pPr>
            <a:r>
              <a:rPr lang="en-US" dirty="0">
                <a:latin typeface="Garamond" panose="02020404030301010803" pitchFamily="18" charset="0"/>
              </a:rPr>
              <a:t>Minimize missed opportunities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Better to reach more than to miss the willing</a:t>
            </a:r>
            <a:endParaRPr lang="en-US" dirty="0">
              <a:latin typeface="Garamond" panose="02020404030301010803" pitchFamily="18" charset="0"/>
            </a:endParaRPr>
          </a:p>
          <a:p>
            <a:endParaRPr lang="en-US" dirty="0">
              <a:latin typeface="Garamond" panose="02020404030301010803" pitchFamily="18" charset="0"/>
            </a:endParaRPr>
          </a:p>
        </p:txBody>
      </p:sp>
    </p:spTree>
    <p:extLst>
      <p:ext uri="{BB962C8B-B14F-4D97-AF65-F5344CB8AC3E}">
        <p14:creationId xmlns:p14="http://schemas.microsoft.com/office/powerpoint/2010/main" val="15883913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9E7E5-F9F3-DC55-786F-24ED30F1E4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E2171-BC38-1EF7-567C-C7D282A7A577}"/>
              </a:ext>
            </a:extLst>
          </p:cNvPr>
          <p:cNvSpPr>
            <a:spLocks noGrp="1"/>
          </p:cNvSpPr>
          <p:nvPr>
            <p:ph type="title"/>
          </p:nvPr>
        </p:nvSpPr>
        <p:spPr>
          <a:xfrm>
            <a:off x="555585" y="1352744"/>
            <a:ext cx="8027043" cy="1143000"/>
          </a:xfrm>
        </p:spPr>
        <p:txBody>
          <a:bodyPr>
            <a:noAutofit/>
          </a:bodyPr>
          <a:lstStyle/>
          <a:p>
            <a:r>
              <a:rPr lang="en-US" sz="2800" b="1" dirty="0">
                <a:latin typeface="Garamond" panose="02020404030301010803" pitchFamily="18" charset="0"/>
              </a:rPr>
              <a:t>Perception of Risk as a Vaccination Drive</a:t>
            </a:r>
            <a:br>
              <a:rPr lang="en-US" sz="2800" b="1" dirty="0">
                <a:latin typeface="Garamond" panose="02020404030301010803" pitchFamily="18" charset="0"/>
              </a:rPr>
            </a:br>
            <a:br>
              <a:rPr lang="en-US" sz="2800" b="1" dirty="0">
                <a:latin typeface="Garamond" panose="02020404030301010803" pitchFamily="18" charset="0"/>
              </a:rPr>
            </a:br>
            <a:r>
              <a:rPr lang="en-US" sz="1600" dirty="0"/>
              <a:t>The upward trend in the blue segments shows that while few who felt </a:t>
            </a:r>
            <a:r>
              <a:rPr lang="en-US" sz="1600" b="1" dirty="0"/>
              <a:t>Low Risk </a:t>
            </a:r>
            <a:r>
              <a:rPr lang="en-US" sz="1600" dirty="0"/>
              <a:t>got vaccinated, nearly half of those perceiving </a:t>
            </a:r>
            <a:r>
              <a:rPr lang="en-US" sz="1600" b="1" dirty="0"/>
              <a:t>Highest Risk </a:t>
            </a:r>
            <a:r>
              <a:rPr lang="en-US" sz="1600" dirty="0"/>
              <a:t>took action. This highlights the importance of </a:t>
            </a:r>
            <a:r>
              <a:rPr lang="en-US" sz="1600" b="1" dirty="0"/>
              <a:t>public health messaging</a:t>
            </a:r>
            <a:r>
              <a:rPr lang="en-US" sz="1600" dirty="0"/>
              <a:t> that accurately communicates personal risk.</a:t>
            </a:r>
            <a:br>
              <a:rPr lang="en-US" sz="1600" dirty="0"/>
            </a:br>
            <a:br>
              <a:rPr lang="en-US" sz="3600" b="1" dirty="0">
                <a:latin typeface="Garamond" panose="02020404030301010803" pitchFamily="18" charset="0"/>
                <a:cs typeface="Archivo" pitchFamily="2" charset="0"/>
              </a:rPr>
            </a:br>
            <a:endParaRPr lang="en-US" sz="24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5B6C727D-26EA-7629-EC39-B85A9661A5A1}"/>
              </a:ext>
            </a:extLst>
          </p:cNvPr>
          <p:cNvPicPr>
            <a:picLocks noGrp="1" noChangeAspect="1"/>
          </p:cNvPicPr>
          <p:nvPr>
            <p:ph idx="1"/>
          </p:nvPr>
        </p:nvPicPr>
        <p:blipFill>
          <a:blip r:embed="rId3"/>
          <a:stretch>
            <a:fillRect/>
          </a:stretch>
        </p:blipFill>
        <p:spPr>
          <a:xfrm>
            <a:off x="1039686" y="2495744"/>
            <a:ext cx="7058839" cy="3339296"/>
          </a:xfrm>
        </p:spPr>
      </p:pic>
    </p:spTree>
    <p:extLst>
      <p:ext uri="{BB962C8B-B14F-4D97-AF65-F5344CB8AC3E}">
        <p14:creationId xmlns:p14="http://schemas.microsoft.com/office/powerpoint/2010/main" val="34685414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A1C2-B8F2-B477-3A49-DF2059ECE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E8800-BCF5-CD47-669C-CDCF419B6215}"/>
              </a:ext>
            </a:extLst>
          </p:cNvPr>
          <p:cNvSpPr>
            <a:spLocks noGrp="1"/>
          </p:cNvSpPr>
          <p:nvPr>
            <p:ph type="title"/>
          </p:nvPr>
        </p:nvSpPr>
        <p:spPr>
          <a:xfrm>
            <a:off x="1176866" y="926912"/>
            <a:ext cx="6798734" cy="1303867"/>
          </a:xfrm>
        </p:spPr>
        <p:txBody>
          <a:bodyPr>
            <a:normAutofit/>
          </a:bodyPr>
          <a:lstStyle/>
          <a:p>
            <a:r>
              <a:rPr lang="en-US" b="1" dirty="0">
                <a:latin typeface="Garamond" panose="02020404030301010803" pitchFamily="18" charset="0"/>
              </a:rPr>
              <a:t> The Strategy of Selection</a:t>
            </a:r>
            <a:br>
              <a:rPr lang="en-US" b="1" dirty="0">
                <a:latin typeface="Garamond" panose="02020404030301010803" pitchFamily="18" charset="0"/>
              </a:rPr>
            </a:br>
            <a:r>
              <a:rPr lang="en-US" sz="2700" dirty="0">
                <a:latin typeface="Garamond" panose="02020404030301010803" pitchFamily="18" charset="0"/>
              </a:rPr>
              <a:t>Choosing Coverage Over Precision</a:t>
            </a:r>
          </a:p>
        </p:txBody>
      </p:sp>
      <p:sp>
        <p:nvSpPr>
          <p:cNvPr id="20" name="Content Placeholder 19">
            <a:extLst>
              <a:ext uri="{FF2B5EF4-FFF2-40B4-BE49-F238E27FC236}">
                <a16:creationId xmlns:a16="http://schemas.microsoft.com/office/drawing/2014/main" id="{AEDE9132-34A7-0B91-AACB-BC6D27B47413}"/>
              </a:ext>
            </a:extLst>
          </p:cNvPr>
          <p:cNvSpPr>
            <a:spLocks noGrp="1"/>
          </p:cNvSpPr>
          <p:nvPr>
            <p:ph idx="1"/>
          </p:nvPr>
        </p:nvSpPr>
        <p:spPr>
          <a:xfrm>
            <a:off x="1176865" y="2384385"/>
            <a:ext cx="6798736" cy="3550747"/>
          </a:xfrm>
        </p:spPr>
        <p:txBody>
          <a:bodyPr>
            <a:normAutofit fontScale="47500" lnSpcReduction="20000"/>
          </a:bodyPr>
          <a:lstStyle/>
          <a:p>
            <a:pPr marL="0" indent="0">
              <a:buNone/>
            </a:pPr>
            <a:r>
              <a:rPr lang="en-US" sz="2800" b="1" dirty="0">
                <a:latin typeface="Garamond" panose="02020404030301010803" pitchFamily="18" charset="0"/>
              </a:rPr>
              <a:t>The Gap Identified</a:t>
            </a:r>
          </a:p>
          <a:p>
            <a:pPr>
              <a:buFont typeface="Wingdings" panose="05000000000000000000" pitchFamily="2" charset="2"/>
              <a:buChar char="q"/>
            </a:pPr>
            <a:r>
              <a:rPr lang="en-US" dirty="0">
                <a:latin typeface="Garamond" panose="02020404030301010803" pitchFamily="18" charset="0"/>
              </a:rPr>
              <a:t>Socioeconomic divide in vaccination </a:t>
            </a:r>
          </a:p>
          <a:p>
            <a:pPr>
              <a:buFont typeface="Wingdings" panose="05000000000000000000" pitchFamily="2" charset="2"/>
              <a:buChar char="q"/>
            </a:pPr>
            <a:r>
              <a:rPr lang="en-US" dirty="0">
                <a:latin typeface="Garamond" panose="02020404030301010803" pitchFamily="18" charset="0"/>
              </a:rPr>
              <a:t>Underserved groups missed by outreach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800" b="1" dirty="0">
                <a:latin typeface="Garamond" panose="02020404030301010803" pitchFamily="18" charset="0"/>
              </a:rPr>
              <a:t>Model Comparison</a:t>
            </a:r>
          </a:p>
          <a:p>
            <a:pPr>
              <a:buFont typeface="Wingdings" panose="05000000000000000000" pitchFamily="2" charset="2"/>
              <a:buChar char="q"/>
            </a:pPr>
            <a:r>
              <a:rPr lang="en-US" dirty="0">
                <a:latin typeface="Garamond" panose="02020404030301010803" pitchFamily="18" charset="0"/>
              </a:rPr>
              <a:t>Random Forest → High accuracy, low coverage </a:t>
            </a:r>
          </a:p>
          <a:p>
            <a:pPr>
              <a:buFont typeface="Wingdings" panose="05000000000000000000" pitchFamily="2" charset="2"/>
              <a:buChar char="q"/>
            </a:pPr>
            <a:r>
              <a:rPr lang="en-US" dirty="0">
                <a:latin typeface="Garamond" panose="02020404030301010803" pitchFamily="18" charset="0"/>
              </a:rPr>
              <a:t>Logistic Regression → Lower accuracy, </a:t>
            </a:r>
            <a:r>
              <a:rPr lang="en-US" b="1" dirty="0">
                <a:latin typeface="Garamond" panose="02020404030301010803" pitchFamily="18" charset="0"/>
              </a:rPr>
              <a:t>high recall</a:t>
            </a:r>
            <a:r>
              <a:rPr lang="en-US" dirty="0">
                <a:latin typeface="Garamond" panose="02020404030301010803" pitchFamily="18" charset="0"/>
              </a:rPr>
              <a:t> </a:t>
            </a:r>
          </a:p>
          <a:p>
            <a:pPr>
              <a:buFont typeface="Wingdings" panose="05000000000000000000" pitchFamily="2" charset="2"/>
              <a:buChar char="q"/>
            </a:pPr>
            <a:endParaRPr lang="en-US" dirty="0">
              <a:latin typeface="Garamond" panose="02020404030301010803" pitchFamily="18" charset="0"/>
            </a:endParaRPr>
          </a:p>
          <a:p>
            <a:pPr marL="0" indent="0">
              <a:buNone/>
            </a:pPr>
            <a:r>
              <a:rPr lang="en-US" sz="2900" b="1" dirty="0">
                <a:latin typeface="Garamond" panose="02020404030301010803" pitchFamily="18" charset="0"/>
              </a:rPr>
              <a:t>The Decision</a:t>
            </a:r>
          </a:p>
          <a:p>
            <a:pPr>
              <a:buFont typeface="Wingdings" panose="05000000000000000000" pitchFamily="2" charset="2"/>
              <a:buChar char="q"/>
            </a:pPr>
            <a:r>
              <a:rPr lang="en-US" b="1" dirty="0">
                <a:latin typeface="Garamond" panose="02020404030301010803" pitchFamily="18" charset="0"/>
              </a:rPr>
              <a:t>Selected: Logistic Regression (Coverage Specialist)</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Captures more potential vaccinees </a:t>
            </a:r>
          </a:p>
          <a:p>
            <a:pPr>
              <a:buFont typeface="Wingdings" panose="05000000000000000000" pitchFamily="2" charset="2"/>
              <a:buChar char="q"/>
            </a:pPr>
            <a:r>
              <a:rPr lang="en-US" dirty="0">
                <a:latin typeface="Garamond" panose="02020404030301010803" pitchFamily="18" charset="0"/>
              </a:rPr>
              <a:t>Reduces missed outreach opportunities </a:t>
            </a: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Coverage saves more lives than precision</a:t>
            </a:r>
            <a:endParaRPr lang="en-US" dirty="0">
              <a:latin typeface="Garamond" panose="02020404030301010803" pitchFamily="18" charset="0"/>
            </a:endParaRPr>
          </a:p>
          <a:p>
            <a:endParaRPr lang="en-US" dirty="0">
              <a:latin typeface="Garamond" panose="02020404030301010803" pitchFamily="18" charset="0"/>
            </a:endParaRPr>
          </a:p>
        </p:txBody>
      </p:sp>
    </p:spTree>
    <p:extLst>
      <p:ext uri="{BB962C8B-B14F-4D97-AF65-F5344CB8AC3E}">
        <p14:creationId xmlns:p14="http://schemas.microsoft.com/office/powerpoint/2010/main" val="21983441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4EEE9-B8F8-67AE-981E-E6AAF9D2E0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7A867-2C15-34F2-DE84-17BA576A0D6B}"/>
              </a:ext>
            </a:extLst>
          </p:cNvPr>
          <p:cNvSpPr>
            <a:spLocks noGrp="1"/>
          </p:cNvSpPr>
          <p:nvPr>
            <p:ph type="title"/>
          </p:nvPr>
        </p:nvSpPr>
        <p:spPr>
          <a:xfrm>
            <a:off x="567158" y="1038564"/>
            <a:ext cx="8015469" cy="1264797"/>
          </a:xfrm>
        </p:spPr>
        <p:txBody>
          <a:bodyPr>
            <a:noAutofit/>
          </a:bodyPr>
          <a:lstStyle/>
          <a:p>
            <a:r>
              <a:rPr lang="en-US" sz="3200" b="1" dirty="0">
                <a:latin typeface="Garamond" panose="02020404030301010803" pitchFamily="18" charset="0"/>
              </a:rPr>
              <a:t>The Interconnected Drivers of Vaccination</a:t>
            </a:r>
            <a:br>
              <a:rPr lang="en-US" sz="3600" b="1" dirty="0">
                <a:latin typeface="Garamond" panose="02020404030301010803" pitchFamily="18" charset="0"/>
              </a:rPr>
            </a:br>
            <a:r>
              <a:rPr lang="en-US" sz="1600" dirty="0"/>
              <a:t>This heatmap serves as our </a:t>
            </a:r>
            <a:r>
              <a:rPr lang="en-US" sz="1600" b="1" dirty="0"/>
              <a:t>mathematical foundation</a:t>
            </a:r>
            <a:r>
              <a:rPr lang="en-US" sz="1600" dirty="0"/>
              <a:t> Notice the strong positive correlation between </a:t>
            </a:r>
            <a:r>
              <a:rPr lang="en-US" sz="1600" b="1" dirty="0"/>
              <a:t>Doctor Recommendation </a:t>
            </a:r>
            <a:r>
              <a:rPr lang="en-US" sz="1600" dirty="0"/>
              <a:t>and </a:t>
            </a:r>
            <a:r>
              <a:rPr lang="en-US" sz="1600" b="1" dirty="0"/>
              <a:t>Vaccination Status</a:t>
            </a:r>
            <a:r>
              <a:rPr lang="en-US" sz="1600" dirty="0"/>
              <a:t>. This confirms that clinical intervention isn't just a minor factor—it is statistically </a:t>
            </a:r>
            <a:r>
              <a:rPr lang="en-US" sz="1600" b="1" dirty="0"/>
              <a:t>one of the most significant links</a:t>
            </a:r>
            <a:r>
              <a:rPr lang="en-US" sz="1600" dirty="0"/>
              <a:t> in our dataset.</a:t>
            </a:r>
            <a:br>
              <a:rPr lang="en-US" sz="1600" dirty="0"/>
            </a:br>
            <a:endParaRPr lang="en-US" sz="1600" b="1"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B8B185F4-1BE4-A89E-D8C8-D9381E14CD2F}"/>
              </a:ext>
            </a:extLst>
          </p:cNvPr>
          <p:cNvPicPr>
            <a:picLocks noGrp="1" noChangeAspect="1"/>
          </p:cNvPicPr>
          <p:nvPr>
            <p:ph idx="1"/>
          </p:nvPr>
        </p:nvPicPr>
        <p:blipFill>
          <a:blip r:embed="rId3"/>
          <a:stretch>
            <a:fillRect/>
          </a:stretch>
        </p:blipFill>
        <p:spPr>
          <a:xfrm>
            <a:off x="902825" y="2453486"/>
            <a:ext cx="7153155" cy="3542199"/>
          </a:xfrm>
        </p:spPr>
      </p:pic>
    </p:spTree>
    <p:extLst>
      <p:ext uri="{BB962C8B-B14F-4D97-AF65-F5344CB8AC3E}">
        <p14:creationId xmlns:p14="http://schemas.microsoft.com/office/powerpoint/2010/main" val="1080190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87F88-0B1C-384E-BCE9-61FBAD97B3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FB5F3-E340-9994-0DD7-A04C284F6EDC}"/>
              </a:ext>
            </a:extLst>
          </p:cNvPr>
          <p:cNvSpPr>
            <a:spLocks noGrp="1"/>
          </p:cNvSpPr>
          <p:nvPr>
            <p:ph type="title"/>
          </p:nvPr>
        </p:nvSpPr>
        <p:spPr/>
        <p:txBody>
          <a:bodyPr>
            <a:normAutofit/>
          </a:bodyPr>
          <a:lstStyle/>
          <a:p>
            <a:r>
              <a:rPr lang="en-US" b="1" dirty="0">
                <a:latin typeface="Garamond" panose="02020404030301010803" pitchFamily="18" charset="0"/>
              </a:rPr>
              <a:t>The Predictive Engine</a:t>
            </a:r>
            <a:br>
              <a:rPr lang="en-US" b="1" dirty="0">
                <a:latin typeface="Garamond" panose="02020404030301010803" pitchFamily="18" charset="0"/>
              </a:rPr>
            </a:br>
            <a:r>
              <a:rPr lang="en-US" sz="2700" dirty="0">
                <a:latin typeface="Garamond" panose="02020404030301010803" pitchFamily="18" charset="0"/>
              </a:rPr>
              <a:t>From Data to Strategic Action</a:t>
            </a:r>
          </a:p>
        </p:txBody>
      </p:sp>
      <p:sp>
        <p:nvSpPr>
          <p:cNvPr id="3" name="Content Placeholder 2">
            <a:extLst>
              <a:ext uri="{FF2B5EF4-FFF2-40B4-BE49-F238E27FC236}">
                <a16:creationId xmlns:a16="http://schemas.microsoft.com/office/drawing/2014/main" id="{AE21B9C6-6F51-7AD0-33E6-4A6BE775E0A7}"/>
              </a:ext>
            </a:extLst>
          </p:cNvPr>
          <p:cNvSpPr>
            <a:spLocks noGrp="1"/>
          </p:cNvSpPr>
          <p:nvPr>
            <p:ph idx="1"/>
          </p:nvPr>
        </p:nvSpPr>
        <p:spPr/>
        <p:txBody>
          <a:bodyPr>
            <a:normAutofit fontScale="47500" lnSpcReduction="20000"/>
          </a:bodyPr>
          <a:lstStyle/>
          <a:p>
            <a:pPr marL="0" indent="0">
              <a:buNone/>
            </a:pPr>
            <a:r>
              <a:rPr lang="en-US" sz="2500" b="1" dirty="0">
                <a:latin typeface="Garamond" panose="02020404030301010803" pitchFamily="18" charset="0"/>
              </a:rPr>
              <a:t>Robust Foundation</a:t>
            </a:r>
          </a:p>
          <a:p>
            <a:pPr>
              <a:buFont typeface="Wingdings" panose="05000000000000000000" pitchFamily="2" charset="2"/>
              <a:buChar char="q"/>
            </a:pPr>
            <a:r>
              <a:rPr lang="en-US" dirty="0">
                <a:latin typeface="Garamond" panose="02020404030301010803" pitchFamily="18" charset="0"/>
              </a:rPr>
              <a:t>Cleaned, encoded, and scaled data </a:t>
            </a:r>
          </a:p>
          <a:p>
            <a:pPr>
              <a:buFont typeface="Wingdings" panose="05000000000000000000" pitchFamily="2" charset="2"/>
              <a:buChar char="q"/>
            </a:pPr>
            <a:r>
              <a:rPr lang="en-US" dirty="0">
                <a:latin typeface="Garamond" panose="02020404030301010803" pitchFamily="18" charset="0"/>
              </a:rPr>
              <a:t>Built for real-world generalization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500" b="1" dirty="0">
                <a:latin typeface="Garamond" panose="02020404030301010803" pitchFamily="18" charset="0"/>
              </a:rPr>
              <a:t>Model Performance</a:t>
            </a:r>
          </a:p>
          <a:p>
            <a:pPr>
              <a:buFont typeface="Wingdings" panose="05000000000000000000" pitchFamily="2" charset="2"/>
              <a:buChar char="q"/>
            </a:pPr>
            <a:r>
              <a:rPr lang="en-US" b="1" dirty="0">
                <a:latin typeface="Garamond" panose="02020404030301010803" pitchFamily="18" charset="0"/>
              </a:rPr>
              <a:t>ROC-AUC: 0.80+</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Strong ability to distinguish “Yes” vs “No”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sz="2500" b="1" dirty="0">
                <a:latin typeface="Garamond" panose="02020404030301010803" pitchFamily="18" charset="0"/>
              </a:rPr>
              <a:t>Strategic Optimization</a:t>
            </a:r>
          </a:p>
          <a:p>
            <a:pPr>
              <a:buFont typeface="Wingdings" panose="05000000000000000000" pitchFamily="2" charset="2"/>
              <a:buChar char="q"/>
            </a:pPr>
            <a:r>
              <a:rPr lang="en-US" dirty="0">
                <a:latin typeface="Garamond" panose="02020404030301010803" pitchFamily="18" charset="0"/>
              </a:rPr>
              <a:t>Prioritized recall over accuracy </a:t>
            </a:r>
          </a:p>
          <a:p>
            <a:pPr>
              <a:buFont typeface="Wingdings" panose="05000000000000000000" pitchFamily="2" charset="2"/>
              <a:buChar char="q"/>
            </a:pPr>
            <a:r>
              <a:rPr lang="en-US" dirty="0">
                <a:latin typeface="Garamond" panose="02020404030301010803" pitchFamily="18" charset="0"/>
              </a:rPr>
              <a:t>Avoided overfitting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A useful model finds people, not just patterns</a:t>
            </a:r>
            <a:endParaRPr lang="en-US" dirty="0">
              <a:latin typeface="Garamond" panose="02020404030301010803" pitchFamily="18" charset="0"/>
            </a:endParaRPr>
          </a:p>
          <a:p>
            <a:pPr marL="0" indent="0">
              <a:buNone/>
            </a:pPr>
            <a:endParaRPr dirty="0">
              <a:latin typeface="Garamond" panose="02020404030301010803" pitchFamily="18" charset="0"/>
            </a:endParaRPr>
          </a:p>
        </p:txBody>
      </p:sp>
    </p:spTree>
    <p:extLst>
      <p:ext uri="{BB962C8B-B14F-4D97-AF65-F5344CB8AC3E}">
        <p14:creationId xmlns:p14="http://schemas.microsoft.com/office/powerpoint/2010/main" val="3263938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44B93-2D85-2352-727A-96E8012B8C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D39851-98F8-96ED-3A29-37D28F5BD2D8}"/>
              </a:ext>
            </a:extLst>
          </p:cNvPr>
          <p:cNvSpPr>
            <a:spLocks noGrp="1"/>
          </p:cNvSpPr>
          <p:nvPr>
            <p:ph type="title"/>
          </p:nvPr>
        </p:nvSpPr>
        <p:spPr>
          <a:xfrm>
            <a:off x="775503" y="509287"/>
            <a:ext cx="7888147" cy="1886672"/>
          </a:xfrm>
        </p:spPr>
        <p:txBody>
          <a:bodyPr>
            <a:noAutofit/>
          </a:bodyPr>
          <a:lstStyle/>
          <a:p>
            <a:r>
              <a:rPr lang="en-US" sz="3600" b="1" dirty="0">
                <a:latin typeface="Garamond" panose="02020404030301010803" pitchFamily="18" charset="0"/>
              </a:rPr>
              <a:t>Predictive Confidence Index</a:t>
            </a:r>
            <a:br>
              <a:rPr lang="en-US" sz="3600" b="1" dirty="0">
                <a:latin typeface="Garamond" panose="02020404030301010803" pitchFamily="18" charset="0"/>
                <a:cs typeface="Archivo" pitchFamily="2" charset="0"/>
              </a:rPr>
            </a:br>
            <a:r>
              <a:rPr lang="en-US" sz="2000" dirty="0">
                <a:latin typeface="Garamond" panose="02020404030301010803" pitchFamily="18" charset="0"/>
              </a:rPr>
              <a:t>At </a:t>
            </a:r>
            <a:r>
              <a:rPr lang="en-US" sz="2000" b="1" dirty="0">
                <a:latin typeface="Garamond" panose="02020404030301010803" pitchFamily="18" charset="0"/>
              </a:rPr>
              <a:t>0.85</a:t>
            </a:r>
            <a:r>
              <a:rPr lang="en-US" sz="2000" dirty="0">
                <a:latin typeface="Garamond" panose="02020404030301010803" pitchFamily="18" charset="0"/>
              </a:rPr>
              <a:t>, the model has an </a:t>
            </a:r>
            <a:r>
              <a:rPr lang="en-US" sz="2000" b="1" dirty="0">
                <a:latin typeface="Garamond" panose="02020404030301010803" pitchFamily="18" charset="0"/>
              </a:rPr>
              <a:t>85% success rate</a:t>
            </a:r>
            <a:r>
              <a:rPr lang="en-US" sz="2000" dirty="0">
                <a:latin typeface="Garamond" panose="02020404030301010803" pitchFamily="18" charset="0"/>
              </a:rPr>
              <a:t> in telling the 'Yes' group apart from the 'No' group.</a:t>
            </a:r>
            <a:endParaRPr lang="en-US" sz="20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7BB15E5C-E8E4-5B09-F234-08AC93460B8E}"/>
              </a:ext>
            </a:extLst>
          </p:cNvPr>
          <p:cNvPicPr>
            <a:picLocks noGrp="1" noChangeAspect="1"/>
          </p:cNvPicPr>
          <p:nvPr>
            <p:ph idx="1"/>
          </p:nvPr>
        </p:nvPicPr>
        <p:blipFill>
          <a:blip r:embed="rId3"/>
          <a:stretch>
            <a:fillRect/>
          </a:stretch>
        </p:blipFill>
        <p:spPr>
          <a:xfrm>
            <a:off x="902824" y="2419108"/>
            <a:ext cx="7199453" cy="3646025"/>
          </a:xfrm>
        </p:spPr>
      </p:pic>
    </p:spTree>
    <p:extLst>
      <p:ext uri="{BB962C8B-B14F-4D97-AF65-F5344CB8AC3E}">
        <p14:creationId xmlns:p14="http://schemas.microsoft.com/office/powerpoint/2010/main" val="2151670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60209-0CE1-F601-92C7-302990881C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37971A-6A32-6A17-5AF2-E089C009075A}"/>
              </a:ext>
            </a:extLst>
          </p:cNvPr>
          <p:cNvSpPr>
            <a:spLocks noGrp="1"/>
          </p:cNvSpPr>
          <p:nvPr>
            <p:ph type="title"/>
          </p:nvPr>
        </p:nvSpPr>
        <p:spPr/>
        <p:txBody>
          <a:bodyPr>
            <a:normAutofit/>
          </a:bodyPr>
          <a:lstStyle/>
          <a:p>
            <a:r>
              <a:rPr lang="en-US" b="1" dirty="0">
                <a:latin typeface="Garamond" panose="02020404030301010803" pitchFamily="18" charset="0"/>
              </a:rPr>
              <a:t>The Predictors of Impact</a:t>
            </a:r>
            <a:br>
              <a:rPr lang="en-US" b="1" dirty="0">
                <a:latin typeface="Garamond" panose="02020404030301010803" pitchFamily="18" charset="0"/>
              </a:rPr>
            </a:br>
            <a:r>
              <a:rPr lang="en-US" sz="2700" dirty="0">
                <a:latin typeface="Garamond" panose="02020404030301010803" pitchFamily="18" charset="0"/>
              </a:rPr>
              <a:t>What Actually Drives Vaccination</a:t>
            </a:r>
          </a:p>
        </p:txBody>
      </p:sp>
      <p:sp>
        <p:nvSpPr>
          <p:cNvPr id="3" name="Content Placeholder 2">
            <a:extLst>
              <a:ext uri="{FF2B5EF4-FFF2-40B4-BE49-F238E27FC236}">
                <a16:creationId xmlns:a16="http://schemas.microsoft.com/office/drawing/2014/main" id="{75E04165-FD99-153B-FDFB-036CF42096BD}"/>
              </a:ext>
            </a:extLst>
          </p:cNvPr>
          <p:cNvSpPr>
            <a:spLocks noGrp="1"/>
          </p:cNvSpPr>
          <p:nvPr>
            <p:ph idx="1"/>
          </p:nvPr>
        </p:nvSpPr>
        <p:spPr/>
        <p:txBody>
          <a:bodyPr>
            <a:normAutofit fontScale="62500" lnSpcReduction="20000"/>
          </a:bodyPr>
          <a:lstStyle/>
          <a:p>
            <a:pPr marL="0" indent="0">
              <a:buNone/>
            </a:pPr>
            <a:r>
              <a:rPr lang="en-US" b="1" dirty="0">
                <a:latin typeface="Garamond" panose="02020404030301010803" pitchFamily="18" charset="0"/>
              </a:rPr>
              <a:t>Model Strength</a:t>
            </a:r>
          </a:p>
          <a:p>
            <a:pPr>
              <a:buFont typeface="Wingdings" panose="05000000000000000000" pitchFamily="2" charset="2"/>
              <a:buChar char="q"/>
            </a:pPr>
            <a:r>
              <a:rPr lang="en-US" dirty="0">
                <a:latin typeface="Garamond" panose="02020404030301010803" pitchFamily="18" charset="0"/>
              </a:rPr>
              <a:t>High discrimination (ROC-AUC 0.80+) </a:t>
            </a:r>
          </a:p>
          <a:p>
            <a:pPr>
              <a:buFont typeface="Wingdings" panose="05000000000000000000" pitchFamily="2" charset="2"/>
              <a:buChar char="q"/>
            </a:pPr>
            <a:r>
              <a:rPr lang="en-US" dirty="0">
                <a:latin typeface="Garamond" panose="02020404030301010803" pitchFamily="18" charset="0"/>
              </a:rPr>
              <a:t>Recall-focused → fewer missed vaccinees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Top 3 Drivers</a:t>
            </a:r>
          </a:p>
          <a:p>
            <a:pPr>
              <a:buFont typeface="Wingdings" panose="05000000000000000000" pitchFamily="2" charset="2"/>
              <a:buChar char="q"/>
            </a:pPr>
            <a:r>
              <a:rPr lang="en-US" b="1" dirty="0">
                <a:latin typeface="Garamond" panose="02020404030301010803" pitchFamily="18" charset="0"/>
              </a:rPr>
              <a:t>Doctor Recommendation</a:t>
            </a:r>
            <a:r>
              <a:rPr lang="en-US" dirty="0">
                <a:latin typeface="Garamond" panose="02020404030301010803" pitchFamily="18" charset="0"/>
              </a:rPr>
              <a:t> (Strongest) </a:t>
            </a:r>
          </a:p>
          <a:p>
            <a:pPr>
              <a:buFont typeface="Wingdings" panose="05000000000000000000" pitchFamily="2" charset="2"/>
              <a:buChar char="q"/>
            </a:pPr>
            <a:r>
              <a:rPr lang="en-US" b="1" dirty="0">
                <a:latin typeface="Garamond" panose="02020404030301010803" pitchFamily="18" charset="0"/>
              </a:rPr>
              <a:t>Past Behavior</a:t>
            </a:r>
            <a:r>
              <a:rPr lang="en-US" dirty="0">
                <a:latin typeface="Garamond" panose="02020404030301010803" pitchFamily="18" charset="0"/>
              </a:rPr>
              <a:t> (Flu shot history) </a:t>
            </a:r>
          </a:p>
          <a:p>
            <a:pPr>
              <a:buFont typeface="Wingdings" panose="05000000000000000000" pitchFamily="2" charset="2"/>
              <a:buChar char="q"/>
            </a:pPr>
            <a:r>
              <a:rPr lang="en-US" b="1" dirty="0">
                <a:latin typeface="Garamond" panose="02020404030301010803" pitchFamily="18" charset="0"/>
              </a:rPr>
              <a:t>Trust in Effectiveness</a:t>
            </a:r>
            <a:r>
              <a:rPr lang="en-US" dirty="0">
                <a:latin typeface="Garamond" panose="02020404030301010803" pitchFamily="18" charset="0"/>
              </a:rPr>
              <a:t>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Trust + influence + habit = action</a:t>
            </a:r>
            <a:endParaRPr lang="en-US" dirty="0">
              <a:latin typeface="Garamond" panose="02020404030301010803" pitchFamily="18" charset="0"/>
            </a:endParaRPr>
          </a:p>
          <a:p>
            <a:endParaRPr lang="en-US" dirty="0">
              <a:latin typeface="Garamond" panose="02020404030301010803" pitchFamily="18" charset="0"/>
            </a:endParaRPr>
          </a:p>
        </p:txBody>
      </p:sp>
    </p:spTree>
    <p:extLst>
      <p:ext uri="{BB962C8B-B14F-4D97-AF65-F5344CB8AC3E}">
        <p14:creationId xmlns:p14="http://schemas.microsoft.com/office/powerpoint/2010/main" val="119139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8994F-EB14-F2A5-FABE-BC0034707B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1CCB10-6DE6-2237-FD42-955CCB49CE1F}"/>
              </a:ext>
            </a:extLst>
          </p:cNvPr>
          <p:cNvSpPr>
            <a:spLocks noGrp="1"/>
          </p:cNvSpPr>
          <p:nvPr>
            <p:ph type="title"/>
          </p:nvPr>
        </p:nvSpPr>
        <p:spPr>
          <a:xfrm>
            <a:off x="648182" y="830220"/>
            <a:ext cx="7789762" cy="1549555"/>
          </a:xfrm>
        </p:spPr>
        <p:txBody>
          <a:bodyPr>
            <a:noAutofit/>
          </a:bodyPr>
          <a:lstStyle/>
          <a:p>
            <a:r>
              <a:rPr lang="en-US" sz="3600" b="1" dirty="0">
                <a:latin typeface="Garamond" panose="02020404030301010803" pitchFamily="18" charset="0"/>
              </a:rPr>
              <a:t>The 'Doctor Effect’</a:t>
            </a:r>
            <a:br>
              <a:rPr lang="en-US" sz="3600" b="1" dirty="0">
                <a:latin typeface="Garamond" panose="02020404030301010803" pitchFamily="18" charset="0"/>
              </a:rPr>
            </a:br>
            <a:r>
              <a:rPr lang="en-US" sz="1400" dirty="0">
                <a:latin typeface="Garamond" panose="02020404030301010803" pitchFamily="18" charset="0"/>
              </a:rPr>
              <a:t>Impact of Recommendations on Compliance</a:t>
            </a:r>
            <a:br>
              <a:rPr lang="en-US" sz="1400" dirty="0">
                <a:latin typeface="Garamond" panose="02020404030301010803" pitchFamily="18" charset="0"/>
              </a:rPr>
            </a:br>
            <a:r>
              <a:rPr lang="en-US" sz="1400" dirty="0"/>
              <a:t>The group on the right (</a:t>
            </a:r>
            <a:r>
              <a:rPr lang="en-US" sz="1400" b="1" dirty="0"/>
              <a:t>1.0</a:t>
            </a:r>
            <a:r>
              <a:rPr lang="en-US" sz="1400" dirty="0"/>
              <a:t>) shows a higher vaccination rate despite being smaller. This indicates that a </a:t>
            </a:r>
            <a:r>
              <a:rPr lang="en-US" sz="1400" b="1" dirty="0"/>
              <a:t>conversation with a healthcare provider</a:t>
            </a:r>
            <a:r>
              <a:rPr lang="en-US" sz="1400" dirty="0"/>
              <a:t> is one of the most effective ways to increase vaccination uptake</a:t>
            </a:r>
            <a:r>
              <a:rPr lang="en-US" sz="1600" dirty="0"/>
              <a:t>.</a:t>
            </a:r>
            <a:br>
              <a:rPr lang="en-US" sz="1600" dirty="0"/>
            </a:br>
            <a:endParaRPr lang="en-US" sz="1600" dirty="0">
              <a:latin typeface="Garamond" panose="02020404030301010803" pitchFamily="18" charset="0"/>
              <a:cs typeface="Archivo" pitchFamily="2" charset="0"/>
            </a:endParaRPr>
          </a:p>
        </p:txBody>
      </p:sp>
      <p:pic>
        <p:nvPicPr>
          <p:cNvPr id="6" name="Content Placeholder 5">
            <a:extLst>
              <a:ext uri="{FF2B5EF4-FFF2-40B4-BE49-F238E27FC236}">
                <a16:creationId xmlns:a16="http://schemas.microsoft.com/office/drawing/2014/main" id="{8069B4CF-3268-031D-A2FA-499A521EA9D8}"/>
              </a:ext>
            </a:extLst>
          </p:cNvPr>
          <p:cNvPicPr>
            <a:picLocks noGrp="1" noChangeAspect="1"/>
          </p:cNvPicPr>
          <p:nvPr>
            <p:ph idx="1"/>
          </p:nvPr>
        </p:nvPicPr>
        <p:blipFill>
          <a:blip r:embed="rId3"/>
          <a:stretch>
            <a:fillRect/>
          </a:stretch>
        </p:blipFill>
        <p:spPr>
          <a:xfrm>
            <a:off x="863064" y="2379775"/>
            <a:ext cx="7574880" cy="3648005"/>
          </a:xfrm>
        </p:spPr>
      </p:pic>
    </p:spTree>
    <p:extLst>
      <p:ext uri="{BB962C8B-B14F-4D97-AF65-F5344CB8AC3E}">
        <p14:creationId xmlns:p14="http://schemas.microsoft.com/office/powerpoint/2010/main" val="2274515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414CE-457F-B4D8-9FD8-A8F057A0B0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D43E9-71A8-98CF-64F9-6DDE6616D09E}"/>
              </a:ext>
            </a:extLst>
          </p:cNvPr>
          <p:cNvSpPr>
            <a:spLocks noGrp="1"/>
          </p:cNvSpPr>
          <p:nvPr>
            <p:ph type="title"/>
          </p:nvPr>
        </p:nvSpPr>
        <p:spPr/>
        <p:txBody>
          <a:bodyPr>
            <a:normAutofit/>
          </a:bodyPr>
          <a:lstStyle/>
          <a:p>
            <a:r>
              <a:rPr lang="en-US" b="1" dirty="0">
                <a:latin typeface="Garamond" panose="02020404030301010803" pitchFamily="18" charset="0"/>
              </a:rPr>
              <a:t>From Prediction to Protection</a:t>
            </a:r>
            <a:br>
              <a:rPr lang="en-US" b="1" dirty="0">
                <a:latin typeface="Garamond" panose="02020404030301010803" pitchFamily="18" charset="0"/>
              </a:rPr>
            </a:br>
            <a:r>
              <a:rPr lang="en-US" sz="2700" dirty="0">
                <a:latin typeface="Garamond" panose="02020404030301010803" pitchFamily="18" charset="0"/>
              </a:rPr>
              <a:t>A Strategic Action Plan</a:t>
            </a:r>
          </a:p>
        </p:txBody>
      </p:sp>
      <p:sp>
        <p:nvSpPr>
          <p:cNvPr id="3" name="Content Placeholder 2">
            <a:extLst>
              <a:ext uri="{FF2B5EF4-FFF2-40B4-BE49-F238E27FC236}">
                <a16:creationId xmlns:a16="http://schemas.microsoft.com/office/drawing/2014/main" id="{EE89B659-ED15-1CC0-740A-615031DA100A}"/>
              </a:ext>
            </a:extLst>
          </p:cNvPr>
          <p:cNvSpPr>
            <a:spLocks noGrp="1"/>
          </p:cNvSpPr>
          <p:nvPr>
            <p:ph idx="1"/>
          </p:nvPr>
        </p:nvSpPr>
        <p:spPr/>
        <p:txBody>
          <a:bodyPr>
            <a:normAutofit fontScale="55000" lnSpcReduction="20000"/>
          </a:bodyPr>
          <a:lstStyle/>
          <a:p>
            <a:pPr marL="0" indent="0">
              <a:buNone/>
            </a:pPr>
            <a:r>
              <a:rPr lang="en-US" b="1" dirty="0">
                <a:latin typeface="Garamond" panose="02020404030301010803" pitchFamily="18" charset="0"/>
              </a:rPr>
              <a:t>Key Drivers</a:t>
            </a:r>
          </a:p>
          <a:p>
            <a:pPr>
              <a:buFont typeface="Wingdings" panose="05000000000000000000" pitchFamily="2" charset="2"/>
              <a:buChar char="q"/>
            </a:pPr>
            <a:r>
              <a:rPr lang="en-US" dirty="0">
                <a:latin typeface="Garamond" panose="02020404030301010803" pitchFamily="18" charset="0"/>
              </a:rPr>
              <a:t>Doctor influence </a:t>
            </a:r>
          </a:p>
          <a:p>
            <a:pPr>
              <a:buFont typeface="Wingdings" panose="05000000000000000000" pitchFamily="2" charset="2"/>
              <a:buChar char="q"/>
            </a:pPr>
            <a:r>
              <a:rPr lang="en-US" dirty="0">
                <a:latin typeface="Garamond" panose="02020404030301010803" pitchFamily="18" charset="0"/>
              </a:rPr>
              <a:t>Behavioral history </a:t>
            </a:r>
          </a:p>
          <a:p>
            <a:pPr>
              <a:buFont typeface="Wingdings" panose="05000000000000000000" pitchFamily="2" charset="2"/>
              <a:buChar char="q"/>
            </a:pPr>
            <a:r>
              <a:rPr lang="en-US" dirty="0">
                <a:latin typeface="Garamond" panose="02020404030301010803" pitchFamily="18" charset="0"/>
              </a:rPr>
              <a:t>Trust in vaccine effectiveness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Action Plan</a:t>
            </a:r>
          </a:p>
          <a:p>
            <a:pPr>
              <a:buFont typeface="Wingdings" panose="05000000000000000000" pitchFamily="2" charset="2"/>
              <a:buChar char="q"/>
            </a:pPr>
            <a:r>
              <a:rPr lang="en-US" b="1" dirty="0">
                <a:latin typeface="Garamond" panose="02020404030301010803" pitchFamily="18" charset="0"/>
              </a:rPr>
              <a:t>Empower doctors</a:t>
            </a:r>
            <a:r>
              <a:rPr lang="en-US" dirty="0">
                <a:latin typeface="Garamond" panose="02020404030301010803" pitchFamily="18" charset="0"/>
              </a:rPr>
              <a:t> as primary messengers </a:t>
            </a:r>
          </a:p>
          <a:p>
            <a:pPr>
              <a:buFont typeface="Wingdings" panose="05000000000000000000" pitchFamily="2" charset="2"/>
              <a:buChar char="q"/>
            </a:pPr>
            <a:r>
              <a:rPr lang="en-US" b="1" dirty="0">
                <a:latin typeface="Garamond" panose="02020404030301010803" pitchFamily="18" charset="0"/>
              </a:rPr>
              <a:t>Simplify communication</a:t>
            </a:r>
            <a:r>
              <a:rPr lang="en-US" dirty="0">
                <a:latin typeface="Garamond" panose="02020404030301010803" pitchFamily="18" charset="0"/>
              </a:rPr>
              <a:t> for underserved groups </a:t>
            </a:r>
          </a:p>
          <a:p>
            <a:pPr>
              <a:buFont typeface="Wingdings" panose="05000000000000000000" pitchFamily="2" charset="2"/>
              <a:buChar char="q"/>
            </a:pPr>
            <a:r>
              <a:rPr lang="en-US" b="1" dirty="0">
                <a:latin typeface="Garamond" panose="02020404030301010803" pitchFamily="18" charset="0"/>
              </a:rPr>
              <a:t>Target flu-shot individuals first</a:t>
            </a:r>
            <a:r>
              <a:rPr lang="en-US" dirty="0">
                <a:latin typeface="Garamond" panose="02020404030301010803" pitchFamily="18" charset="0"/>
              </a:rPr>
              <a:t>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Key Insight</a:t>
            </a:r>
          </a:p>
          <a:p>
            <a:pPr>
              <a:buFont typeface="Wingdings" panose="05000000000000000000" pitchFamily="2" charset="2"/>
              <a:buChar char="q"/>
            </a:pPr>
            <a:r>
              <a:rPr lang="en-US" b="1" dirty="0">
                <a:latin typeface="Garamond" panose="02020404030301010803" pitchFamily="18" charset="0"/>
              </a:rPr>
              <a:t>Strategy turns predictions into impact</a:t>
            </a:r>
            <a:endParaRPr lang="en-US" dirty="0">
              <a:latin typeface="Garamond" panose="02020404030301010803" pitchFamily="18" charset="0"/>
            </a:endParaRPr>
          </a:p>
          <a:p>
            <a:pPr lvl="0"/>
            <a:endParaRPr lang="en-US" dirty="0">
              <a:latin typeface="Garamond" panose="02020404030301010803" pitchFamily="18" charset="0"/>
            </a:endParaRPr>
          </a:p>
        </p:txBody>
      </p:sp>
    </p:spTree>
    <p:extLst>
      <p:ext uri="{BB962C8B-B14F-4D97-AF65-F5344CB8AC3E}">
        <p14:creationId xmlns:p14="http://schemas.microsoft.com/office/powerpoint/2010/main" val="250394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2001C-A99C-04BF-F6D7-43C1950DAD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0445DA-683A-3791-C533-11A848C12EFB}"/>
              </a:ext>
            </a:extLst>
          </p:cNvPr>
          <p:cNvSpPr>
            <a:spLocks noGrp="1"/>
          </p:cNvSpPr>
          <p:nvPr>
            <p:ph type="title"/>
          </p:nvPr>
        </p:nvSpPr>
        <p:spPr/>
        <p:txBody>
          <a:bodyPr>
            <a:normAutofit fontScale="90000"/>
          </a:bodyPr>
          <a:lstStyle/>
          <a:p>
            <a:r>
              <a:rPr lang="en-US" sz="3100" b="1" dirty="0">
                <a:latin typeface="Garamond" panose="02020404030301010803" pitchFamily="18" charset="0"/>
              </a:rPr>
              <a:t>The Future of Public Health Intelligence</a:t>
            </a:r>
            <a:br>
              <a:rPr lang="en-US" b="1" dirty="0">
                <a:latin typeface="Garamond" panose="02020404030301010803" pitchFamily="18" charset="0"/>
              </a:rPr>
            </a:br>
            <a:r>
              <a:rPr lang="en-US" sz="2700" dirty="0">
                <a:latin typeface="Garamond" panose="02020404030301010803" pitchFamily="18" charset="0"/>
              </a:rPr>
              <a:t>Closing the Trust Gap with Data</a:t>
            </a:r>
          </a:p>
        </p:txBody>
      </p:sp>
      <p:sp>
        <p:nvSpPr>
          <p:cNvPr id="3" name="Content Placeholder 2">
            <a:extLst>
              <a:ext uri="{FF2B5EF4-FFF2-40B4-BE49-F238E27FC236}">
                <a16:creationId xmlns:a16="http://schemas.microsoft.com/office/drawing/2014/main" id="{07C1DF73-24B0-6980-F94E-623E1C11949D}"/>
              </a:ext>
            </a:extLst>
          </p:cNvPr>
          <p:cNvSpPr>
            <a:spLocks noGrp="1"/>
          </p:cNvSpPr>
          <p:nvPr>
            <p:ph idx="1"/>
          </p:nvPr>
        </p:nvSpPr>
        <p:spPr/>
        <p:txBody>
          <a:bodyPr>
            <a:normAutofit fontScale="55000" lnSpcReduction="20000"/>
          </a:bodyPr>
          <a:lstStyle/>
          <a:p>
            <a:pPr marL="0" indent="0">
              <a:buNone/>
            </a:pPr>
            <a:r>
              <a:rPr lang="en-US" b="1" dirty="0">
                <a:latin typeface="Garamond" panose="02020404030301010803" pitchFamily="18" charset="0"/>
              </a:rPr>
              <a:t>Final Verdict</a:t>
            </a:r>
          </a:p>
          <a:p>
            <a:pPr>
              <a:buFont typeface="Wingdings" panose="05000000000000000000" pitchFamily="2" charset="2"/>
              <a:buChar char="q"/>
            </a:pPr>
            <a:r>
              <a:rPr lang="en-US" b="1" dirty="0">
                <a:latin typeface="Garamond" panose="02020404030301010803" pitchFamily="18" charset="0"/>
              </a:rPr>
              <a:t>Vaccination is driven by trust, not just health awareness</a:t>
            </a:r>
            <a:endParaRPr lang="en-US" dirty="0">
              <a:latin typeface="Garamond" panose="02020404030301010803" pitchFamily="18" charset="0"/>
            </a:endParaRPr>
          </a:p>
          <a:p>
            <a:pPr>
              <a:buFont typeface="Wingdings" panose="05000000000000000000" pitchFamily="2" charset="2"/>
              <a:buChar char="q"/>
            </a:pPr>
            <a:r>
              <a:rPr lang="en-US" dirty="0">
                <a:latin typeface="Garamond" panose="02020404030301010803" pitchFamily="18" charset="0"/>
              </a:rPr>
              <a:t>Model captures ~72% of potential vaccinees </a:t>
            </a:r>
          </a:p>
          <a:p>
            <a:pPr>
              <a:buFont typeface="Wingdings" panose="05000000000000000000" pitchFamily="2" charset="2"/>
              <a:buChar char="q"/>
            </a:pPr>
            <a:r>
              <a:rPr lang="en-US" dirty="0">
                <a:latin typeface="Garamond" panose="02020404030301010803" pitchFamily="18" charset="0"/>
              </a:rPr>
              <a:t>Enables proactive intervention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Strategic Roadmap</a:t>
            </a:r>
          </a:p>
          <a:p>
            <a:pPr>
              <a:buFont typeface="Wingdings" panose="05000000000000000000" pitchFamily="2" charset="2"/>
              <a:buChar char="q"/>
            </a:pPr>
            <a:r>
              <a:rPr lang="en-US" dirty="0">
                <a:latin typeface="Garamond" panose="02020404030301010803" pitchFamily="18" charset="0"/>
              </a:rPr>
              <a:t>Equip doctors with communication tools </a:t>
            </a:r>
          </a:p>
          <a:p>
            <a:pPr>
              <a:buFont typeface="Wingdings" panose="05000000000000000000" pitchFamily="2" charset="2"/>
              <a:buChar char="q"/>
            </a:pPr>
            <a:r>
              <a:rPr lang="en-US" dirty="0">
                <a:latin typeface="Garamond" panose="02020404030301010803" pitchFamily="18" charset="0"/>
              </a:rPr>
              <a:t>Eliminate jargon in outreach </a:t>
            </a:r>
          </a:p>
          <a:p>
            <a:pPr>
              <a:buFont typeface="Wingdings" panose="05000000000000000000" pitchFamily="2" charset="2"/>
              <a:buChar char="q"/>
            </a:pPr>
            <a:r>
              <a:rPr lang="en-US" dirty="0">
                <a:latin typeface="Garamond" panose="02020404030301010803" pitchFamily="18" charset="0"/>
              </a:rPr>
              <a:t>Track trust &amp; information sources </a:t>
            </a:r>
            <a:br>
              <a:rPr lang="en-US" dirty="0">
                <a:latin typeface="Garamond" panose="02020404030301010803" pitchFamily="18" charset="0"/>
              </a:rPr>
            </a:br>
            <a:endParaRPr lang="en-US" dirty="0">
              <a:latin typeface="Garamond" panose="02020404030301010803" pitchFamily="18" charset="0"/>
            </a:endParaRPr>
          </a:p>
          <a:p>
            <a:pPr marL="0" indent="0">
              <a:buNone/>
            </a:pPr>
            <a:r>
              <a:rPr lang="en-US" b="1" dirty="0">
                <a:latin typeface="Garamond" panose="02020404030301010803" pitchFamily="18" charset="0"/>
              </a:rPr>
              <a:t>Closing Statement</a:t>
            </a:r>
          </a:p>
          <a:p>
            <a:pPr>
              <a:buFont typeface="Wingdings" panose="05000000000000000000" pitchFamily="2" charset="2"/>
              <a:buChar char="q"/>
            </a:pPr>
            <a:r>
              <a:rPr lang="en-US" dirty="0">
                <a:latin typeface="Garamond" panose="02020404030301010803" pitchFamily="18" charset="0"/>
              </a:rPr>
              <a:t>“Data-driven trust is our strongest defense.”</a:t>
            </a:r>
          </a:p>
          <a:p>
            <a:endParaRPr lang="en-US" dirty="0">
              <a:latin typeface="Garamond" panose="02020404030301010803" pitchFamily="18" charset="0"/>
            </a:endParaRPr>
          </a:p>
        </p:txBody>
      </p:sp>
    </p:spTree>
    <p:extLst>
      <p:ext uri="{BB962C8B-B14F-4D97-AF65-F5344CB8AC3E}">
        <p14:creationId xmlns:p14="http://schemas.microsoft.com/office/powerpoint/2010/main" val="23340871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4C5A6-AE39-8E74-EDFD-4BF63B6E3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595B07-7566-B5D5-3932-9E669B8CC59E}"/>
              </a:ext>
            </a:extLst>
          </p:cNvPr>
          <p:cNvSpPr>
            <a:spLocks noGrp="1"/>
          </p:cNvSpPr>
          <p:nvPr>
            <p:ph type="title"/>
          </p:nvPr>
        </p:nvSpPr>
        <p:spPr/>
        <p:txBody>
          <a:bodyPr>
            <a:normAutofit/>
          </a:bodyPr>
          <a:lstStyle/>
          <a:p>
            <a:r>
              <a:rPr lang="en-US" b="1" dirty="0">
                <a:latin typeface="Garamond" panose="02020404030301010803" pitchFamily="18" charset="0"/>
              </a:rPr>
              <a:t>Dialogue</a:t>
            </a:r>
            <a:br>
              <a:rPr lang="en-US" b="1" dirty="0">
                <a:latin typeface="Garamond" panose="02020404030301010803" pitchFamily="18" charset="0"/>
              </a:rPr>
            </a:br>
            <a:r>
              <a:rPr lang="en-US" sz="2700" dirty="0">
                <a:latin typeface="Garamond" panose="02020404030301010803" pitchFamily="18" charset="0"/>
              </a:rPr>
              <a:t>Bridging Data &amp; Strategy</a:t>
            </a:r>
          </a:p>
        </p:txBody>
      </p:sp>
      <p:sp>
        <p:nvSpPr>
          <p:cNvPr id="3" name="Content Placeholder 2">
            <a:extLst>
              <a:ext uri="{FF2B5EF4-FFF2-40B4-BE49-F238E27FC236}">
                <a16:creationId xmlns:a16="http://schemas.microsoft.com/office/drawing/2014/main" id="{35D8E8E1-BA9F-2A79-3399-389E119AFBBA}"/>
              </a:ext>
            </a:extLst>
          </p:cNvPr>
          <p:cNvSpPr>
            <a:spLocks noGrp="1"/>
          </p:cNvSpPr>
          <p:nvPr>
            <p:ph idx="1"/>
          </p:nvPr>
        </p:nvSpPr>
        <p:spPr/>
        <p:txBody>
          <a:bodyPr>
            <a:normAutofit fontScale="62500" lnSpcReduction="20000"/>
          </a:bodyPr>
          <a:lstStyle/>
          <a:p>
            <a:pPr marL="0" indent="0">
              <a:buNone/>
            </a:pPr>
            <a:r>
              <a:rPr lang="en-US" b="1" dirty="0">
                <a:latin typeface="Garamond" panose="02020404030301010803" pitchFamily="18" charset="0"/>
              </a:rPr>
              <a:t>Quick Summary</a:t>
            </a:r>
            <a:endParaRPr lang="en-US" dirty="0">
              <a:latin typeface="Garamond" panose="02020404030301010803" pitchFamily="18" charset="0"/>
            </a:endParaRPr>
          </a:p>
          <a:p>
            <a:pPr>
              <a:buFont typeface="Wingdings" panose="05000000000000000000" pitchFamily="2" charset="2"/>
              <a:buChar char="q"/>
            </a:pPr>
            <a:r>
              <a:rPr lang="en-US" sz="2600" b="1" dirty="0">
                <a:latin typeface="Garamond" panose="02020404030301010803" pitchFamily="18" charset="0"/>
              </a:rPr>
              <a:t>Model: </a:t>
            </a:r>
            <a:r>
              <a:rPr lang="en-US" sz="2600" dirty="0">
                <a:latin typeface="Garamond" panose="02020404030301010803" pitchFamily="18" charset="0"/>
              </a:rPr>
              <a:t>High-recall Logistic Regression maximizes community coverage</a:t>
            </a:r>
          </a:p>
          <a:p>
            <a:pPr>
              <a:buFont typeface="Wingdings" panose="05000000000000000000" pitchFamily="2" charset="2"/>
              <a:buChar char="q"/>
            </a:pPr>
            <a:r>
              <a:rPr lang="en-US" sz="2600" b="1" dirty="0">
                <a:latin typeface="Garamond" panose="02020404030301010803" pitchFamily="18" charset="0"/>
              </a:rPr>
              <a:t>Insight: </a:t>
            </a:r>
            <a:r>
              <a:rPr lang="en-US" sz="2600" dirty="0">
                <a:latin typeface="Garamond" panose="02020404030301010803" pitchFamily="18" charset="0"/>
              </a:rPr>
              <a:t>Trust outweighs habits in driving vaccination.</a:t>
            </a:r>
          </a:p>
          <a:p>
            <a:pPr>
              <a:buFont typeface="Wingdings" panose="05000000000000000000" pitchFamily="2" charset="2"/>
              <a:buChar char="q"/>
            </a:pPr>
            <a:r>
              <a:rPr lang="en-US" sz="2600" b="1" dirty="0">
                <a:latin typeface="Garamond" panose="02020404030301010803" pitchFamily="18" charset="0"/>
              </a:rPr>
              <a:t>Strategy: </a:t>
            </a:r>
            <a:r>
              <a:rPr lang="en-US" sz="2600" dirty="0">
                <a:latin typeface="Garamond" panose="02020404030301010803" pitchFamily="18" charset="0"/>
              </a:rPr>
              <a:t>Clear, targeted communication to close information Gap.</a:t>
            </a:r>
          </a:p>
          <a:p>
            <a:pPr marL="0" lvl="0" indent="0">
              <a:buNone/>
            </a:pPr>
            <a:endParaRPr lang="en-US" dirty="0">
              <a:latin typeface="Garamond" panose="02020404030301010803" pitchFamily="18" charset="0"/>
            </a:endParaRPr>
          </a:p>
          <a:p>
            <a:pPr marL="0" indent="0">
              <a:buNone/>
            </a:pPr>
            <a:r>
              <a:rPr lang="en-US" b="1" dirty="0">
                <a:latin typeface="Garamond" panose="02020404030301010803" pitchFamily="18" charset="0"/>
              </a:rPr>
              <a:t>Discussion</a:t>
            </a:r>
          </a:p>
          <a:p>
            <a:pPr marL="0" indent="0">
              <a:buNone/>
            </a:pPr>
            <a:r>
              <a:rPr lang="en-US" sz="2600" dirty="0">
                <a:latin typeface="Garamond" panose="02020404030301010803" pitchFamily="18" charset="0"/>
              </a:rPr>
              <a:t>welcome your technical inquiries, strategic critiques, or thoughts on how we can better map the 'Trust Threshold' for the next global health challenge.</a:t>
            </a:r>
          </a:p>
          <a:p>
            <a:pPr marL="0" indent="0">
              <a:buNone/>
            </a:pPr>
            <a:endParaRPr lang="en-US" i="1" dirty="0">
              <a:latin typeface="Garamond" panose="02020404030301010803" pitchFamily="18" charset="0"/>
            </a:endParaRPr>
          </a:p>
          <a:p>
            <a:pPr marL="0" indent="0">
              <a:buNone/>
            </a:pPr>
            <a:r>
              <a:rPr lang="en-US" sz="2000" b="1" dirty="0">
                <a:latin typeface="Garamond" panose="02020404030301010803" pitchFamily="18" charset="0"/>
              </a:rPr>
              <a:t>For Q&amp;A, Inbox me at </a:t>
            </a:r>
            <a:r>
              <a:rPr lang="en-US" sz="2000" b="1" dirty="0">
                <a:latin typeface="Garamond" panose="02020404030301010803" pitchFamily="18" charset="0"/>
                <a:hlinkClick r:id="rId3"/>
              </a:rPr>
              <a:t>garangabel262@gmail.com</a:t>
            </a:r>
            <a:r>
              <a:rPr lang="en-US" sz="2000" b="1" dirty="0">
                <a:latin typeface="Garamond" panose="02020404030301010803" pitchFamily="18" charset="0"/>
              </a:rPr>
              <a:t>. I will get to you within 24 hours.</a:t>
            </a:r>
          </a:p>
          <a:p>
            <a:endParaRPr lang="en-US" dirty="0">
              <a:latin typeface="Garamond" panose="02020404030301010803" pitchFamily="18" charset="0"/>
            </a:endParaRPr>
          </a:p>
        </p:txBody>
      </p:sp>
    </p:spTree>
    <p:extLst>
      <p:ext uri="{BB962C8B-B14F-4D97-AF65-F5344CB8AC3E}">
        <p14:creationId xmlns:p14="http://schemas.microsoft.com/office/powerpoint/2010/main" val="195999001"/>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B15E28"/>
      </a:accent1>
      <a:accent2>
        <a:srgbClr val="B13228"/>
      </a:accent2>
      <a:accent3>
        <a:srgbClr val="8B7B56"/>
      </a:accent3>
      <a:accent4>
        <a:srgbClr val="E09C41"/>
      </a:accent4>
      <a:accent5>
        <a:srgbClr val="9EAE51"/>
      </a:accent5>
      <a:accent6>
        <a:srgbClr val="6E7355"/>
      </a:accent6>
      <a:hlink>
        <a:srgbClr val="D37A21"/>
      </a:hlink>
      <a:folHlink>
        <a:srgbClr val="CA8F55"/>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039A4B3-0617-4CFC-B614-27363ECC28A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467</TotalTime>
  <Words>1418</Words>
  <Application>Microsoft Office PowerPoint</Application>
  <PresentationFormat>On-screen Show (4:3)</PresentationFormat>
  <Paragraphs>167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Garamond</vt:lpstr>
      <vt:lpstr>Wingdings</vt:lpstr>
      <vt:lpstr>Organic</vt:lpstr>
      <vt:lpstr>The $20 Million Question Predicting Vaccine Intent Before the Next Outbreak “In a public health crisis, every dollar spent on the wrong outreach can cost lives.” </vt:lpstr>
      <vt:lpstr>The Data Blueprint &amp; Strategic Gap Decoding Hidden Behavioral Patterns</vt:lpstr>
      <vt:lpstr>The Hierarchy of Influence  Perception vs. Reality Out of 30+ variables analyzed, these 15 represent the Vitals the most influential factors driving an individual’s decision to get vaccinated.  </vt:lpstr>
      <vt:lpstr>The Anatomy of Decision-Making Trust vs. Habit: What Really Drives Vaccination</vt:lpstr>
      <vt:lpstr>Tableau Representation of the analysis</vt:lpstr>
      <vt:lpstr>Vaccinated vs. Unvaccinated Comparing both charts, the slices are nearly identical, indicating that gender was not a primary driver for H1N1 vaccination. Men and women made decisions at similar rates, allowing us to focus on behavioral drivers  </vt:lpstr>
      <vt:lpstr>Engineering Equity &amp; The Information Gap From Data Processing to Socioeconomic Insight</vt:lpstr>
      <vt:lpstr>Escaping the Accuracy Trap Prioritizing Recall Over Accuracy</vt:lpstr>
      <vt:lpstr>Perception of Risk as a Vaccination Drive  The upward trend in the blue segments shows that while few who felt Low Risk got vaccinated, nearly half of those perceiving Highest Risk took action. This highlights the importance of public health messaging that accurately communicates personal risk.  </vt:lpstr>
      <vt:lpstr> The Strategy of Selection Choosing Coverage Over Precision</vt:lpstr>
      <vt:lpstr>The Interconnected Drivers of Vaccination This heatmap serves as our mathematical foundation Notice the strong positive correlation between Doctor Recommendation and Vaccination Status. This confirms that clinical intervention isn't just a minor factor—it is statistically one of the most significant links in our dataset. </vt:lpstr>
      <vt:lpstr>The Predictive Engine From Data to Strategic Action</vt:lpstr>
      <vt:lpstr>Predictive Confidence Index At 0.85, the model has an 85% success rate in telling the 'Yes' group apart from the 'No' group.</vt:lpstr>
      <vt:lpstr>The Predictors of Impact What Actually Drives Vaccination</vt:lpstr>
      <vt:lpstr>The 'Doctor Effect’ Impact of Recommendations on Compliance The group on the right (1.0) shows a higher vaccination rate despite being smaller. This indicates that a conversation with a healthcare provider is one of the most effective ways to increase vaccination uptake. </vt:lpstr>
      <vt:lpstr>From Prediction to Protection A Strategic Action Plan</vt:lpstr>
      <vt:lpstr>The Future of Public Health Intelligence Closing the Trust Gap with Data</vt:lpstr>
      <vt:lpstr>Dialogue Bridging Data &amp; Strategy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DELL</cp:lastModifiedBy>
  <cp:revision>106</cp:revision>
  <dcterms:created xsi:type="dcterms:W3CDTF">2013-01-27T09:14:16Z</dcterms:created>
  <dcterms:modified xsi:type="dcterms:W3CDTF">2026-03-23T05:23:38Z</dcterms:modified>
  <cp:category/>
</cp:coreProperties>
</file>